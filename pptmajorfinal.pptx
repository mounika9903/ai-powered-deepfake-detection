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307" r:id="rId2"/>
    <p:sldId id="257" r:id="rId3"/>
    <p:sldId id="259" r:id="rId4"/>
    <p:sldId id="265" r:id="rId5"/>
    <p:sldId id="263" r:id="rId6"/>
    <p:sldId id="270" r:id="rId7"/>
    <p:sldId id="308" r:id="rId8"/>
    <p:sldId id="311" r:id="rId9"/>
    <p:sldId id="310" r:id="rId10"/>
    <p:sldId id="321" r:id="rId11"/>
    <p:sldId id="322" r:id="rId12"/>
    <p:sldId id="323" r:id="rId13"/>
    <p:sldId id="325" r:id="rId14"/>
    <p:sldId id="326" r:id="rId15"/>
    <p:sldId id="327" r:id="rId16"/>
    <p:sldId id="329" r:id="rId17"/>
    <p:sldId id="330" r:id="rId18"/>
    <p:sldId id="331" r:id="rId19"/>
    <p:sldId id="332" r:id="rId20"/>
    <p:sldId id="269" r:id="rId21"/>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3" autoAdjust="0"/>
  </p:normalViewPr>
  <p:slideViewPr>
    <p:cSldViewPr>
      <p:cViewPr varScale="1">
        <p:scale>
          <a:sx n="48" d="100"/>
          <a:sy n="48" d="100"/>
        </p:scale>
        <p:origin x="816" y="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4800" cy="5159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10358438" y="0"/>
            <a:ext cx="7924800" cy="515938"/>
          </a:xfrm>
          <a:prstGeom prst="rect">
            <a:avLst/>
          </a:prstGeom>
        </p:spPr>
        <p:txBody>
          <a:bodyPr vert="horz" lIns="91440" tIns="45720" rIns="91440" bIns="45720" rtlCol="0"/>
          <a:lstStyle>
            <a:lvl1pPr algn="r">
              <a:defRPr sz="1200"/>
            </a:lvl1pPr>
          </a:lstStyle>
          <a:p>
            <a:fld id="{D854FC1D-031C-41AD-81A5-CEF4B902753D}" type="datetimeFigureOut">
              <a:rPr lang="en-US" smtClean="0"/>
              <a:t>1/9/2026</a:t>
            </a:fld>
            <a:endParaRPr lang="en-US"/>
          </a:p>
        </p:txBody>
      </p:sp>
      <p:sp>
        <p:nvSpPr>
          <p:cNvPr id="4" name="Slide Image Placeholder 3"/>
          <p:cNvSpPr>
            <a:spLocks noGrp="1" noRot="1" noChangeAspect="1"/>
          </p:cNvSpPr>
          <p:nvPr>
            <p:ph type="sldImg" idx="2"/>
          </p:nvPr>
        </p:nvSpPr>
        <p:spPr>
          <a:xfrm>
            <a:off x="6057900" y="1285875"/>
            <a:ext cx="6172200" cy="347186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828800" y="4951413"/>
            <a:ext cx="14630400" cy="40497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71063"/>
            <a:ext cx="7924800" cy="5159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10358438" y="9771063"/>
            <a:ext cx="7924800" cy="515937"/>
          </a:xfrm>
          <a:prstGeom prst="rect">
            <a:avLst/>
          </a:prstGeom>
        </p:spPr>
        <p:txBody>
          <a:bodyPr vert="horz" lIns="91440" tIns="45720" rIns="91440" bIns="45720" rtlCol="0" anchor="b"/>
          <a:lstStyle>
            <a:lvl1pPr algn="r">
              <a:defRPr sz="1200"/>
            </a:lvl1pPr>
          </a:lstStyle>
          <a:p>
            <a:fld id="{BC3060DB-4493-4B44-995B-2B37A98D7505}" type="slidenum">
              <a:rPr lang="en-US" smtClean="0"/>
              <a:t>‹#›</a:t>
            </a:fld>
            <a:endParaRPr lang="en-US"/>
          </a:p>
        </p:txBody>
      </p:sp>
    </p:spTree>
    <p:extLst>
      <p:ext uri="{BB962C8B-B14F-4D97-AF65-F5344CB8AC3E}">
        <p14:creationId xmlns:p14="http://schemas.microsoft.com/office/powerpoint/2010/main" val="458924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3060DB-4493-4B44-995B-2B37A98D7505}" type="slidenum">
              <a:rPr lang="en-US" smtClean="0"/>
              <a:t>3</a:t>
            </a:fld>
            <a:endParaRPr lang="en-US"/>
          </a:p>
        </p:txBody>
      </p:sp>
    </p:spTree>
    <p:extLst>
      <p:ext uri="{BB962C8B-B14F-4D97-AF65-F5344CB8AC3E}">
        <p14:creationId xmlns:p14="http://schemas.microsoft.com/office/powerpoint/2010/main" val="27517653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3060DB-4493-4B44-995B-2B37A98D7505}" type="slidenum">
              <a:rPr lang="en-US" smtClean="0"/>
              <a:t>20</a:t>
            </a:fld>
            <a:endParaRPr lang="en-US"/>
          </a:p>
        </p:txBody>
      </p:sp>
    </p:spTree>
    <p:extLst>
      <p:ext uri="{BB962C8B-B14F-4D97-AF65-F5344CB8AC3E}">
        <p14:creationId xmlns:p14="http://schemas.microsoft.com/office/powerpoint/2010/main" val="17293767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90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90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90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1/9/2026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90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1/9/2026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1/9/2026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2494956"/>
            <a:ext cx="13716000" cy="2769989"/>
          </a:xfrm>
        </p:spPr>
        <p:txBody>
          <a:bodyPr anchor="b"/>
          <a:lstStyle>
            <a:lvl1pPr algn="ctr">
              <a:defRPr sz="9000"/>
            </a:lvl1pPr>
          </a:lstStyle>
          <a:p>
            <a:r>
              <a:rPr lang="en-US"/>
              <a:t>Click to edit Master title style</a:t>
            </a:r>
            <a:endParaRPr lang="en-US" dirty="0"/>
          </a:p>
        </p:txBody>
      </p:sp>
      <p:sp>
        <p:nvSpPr>
          <p:cNvPr id="3" name="Subtitle 2"/>
          <p:cNvSpPr>
            <a:spLocks noGrp="1"/>
          </p:cNvSpPr>
          <p:nvPr>
            <p:ph type="subTitle" idx="1"/>
          </p:nvPr>
        </p:nvSpPr>
        <p:spPr>
          <a:xfrm>
            <a:off x="2286000" y="5403057"/>
            <a:ext cx="13716000" cy="553998"/>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endParaRPr lang="en-US" dirty="0"/>
          </a:p>
        </p:txBody>
      </p:sp>
      <p:sp>
        <p:nvSpPr>
          <p:cNvPr id="4" name="Date Placeholder 3"/>
          <p:cNvSpPr>
            <a:spLocks noGrp="1"/>
          </p:cNvSpPr>
          <p:nvPr>
            <p:ph type="dt" sz="half" idx="10"/>
          </p:nvPr>
        </p:nvSpPr>
        <p:spPr>
          <a:xfrm>
            <a:off x="914400" y="9566910"/>
            <a:ext cx="4206240" cy="276999"/>
          </a:xfrm>
        </p:spPr>
        <p:txBody>
          <a:bodyPr/>
          <a:lstStyle/>
          <a:p>
            <a:fld id="{4EF2C784-923F-4967-831D-414454348EF0}" type="datetimeFigureOut">
              <a:rPr lang="en-IN" smtClean="0"/>
              <a:t>09-01-2026</a:t>
            </a:fld>
            <a:endParaRPr lang="en-IN"/>
          </a:p>
        </p:txBody>
      </p:sp>
      <p:sp>
        <p:nvSpPr>
          <p:cNvPr id="5" name="Footer Placeholder 4"/>
          <p:cNvSpPr>
            <a:spLocks noGrp="1"/>
          </p:cNvSpPr>
          <p:nvPr>
            <p:ph type="ftr" sz="quarter" idx="11"/>
          </p:nvPr>
        </p:nvSpPr>
        <p:spPr>
          <a:xfrm>
            <a:off x="6217920" y="9566910"/>
            <a:ext cx="5852160" cy="276999"/>
          </a:xfrm>
        </p:spPr>
        <p:txBody>
          <a:bodyPr/>
          <a:lstStyle/>
          <a:p>
            <a:endParaRPr lang="en-IN"/>
          </a:p>
        </p:txBody>
      </p:sp>
      <p:sp>
        <p:nvSpPr>
          <p:cNvPr id="6" name="Slide Number Placeholder 5"/>
          <p:cNvSpPr>
            <a:spLocks noGrp="1"/>
          </p:cNvSpPr>
          <p:nvPr>
            <p:ph type="sldNum" sz="quarter" idx="12"/>
          </p:nvPr>
        </p:nvSpPr>
        <p:spPr>
          <a:xfrm>
            <a:off x="13167361" y="9566910"/>
            <a:ext cx="4206240" cy="276999"/>
          </a:xfrm>
        </p:spPr>
        <p:txBody>
          <a:bodyPr/>
          <a:lstStyle/>
          <a:p>
            <a:fld id="{9872ED4D-6F54-4661-8AE5-46454C040F0C}" type="slidenum">
              <a:rPr lang="en-IN" smtClean="0"/>
              <a:t>‹#›</a:t>
            </a:fld>
            <a:endParaRPr lang="en-IN"/>
          </a:p>
        </p:txBody>
      </p:sp>
    </p:spTree>
    <p:extLst>
      <p:ext uri="{BB962C8B-B14F-4D97-AF65-F5344CB8AC3E}">
        <p14:creationId xmlns:p14="http://schemas.microsoft.com/office/powerpoint/2010/main" val="53655377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707943" y="2940050"/>
            <a:ext cx="6872113" cy="1397000"/>
          </a:xfrm>
          <a:prstGeom prst="rect">
            <a:avLst/>
          </a:prstGeom>
        </p:spPr>
        <p:txBody>
          <a:bodyPr wrap="square" lIns="0" tIns="0" rIns="0" bIns="0">
            <a:spAutoFit/>
          </a:bodyPr>
          <a:lstStyle>
            <a:lvl1pPr>
              <a:defRPr sz="90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1208064" y="2676757"/>
            <a:ext cx="16051242" cy="5892701"/>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1/9/2026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hyperlink" Target="https://ceur-ws.org/Vol-3900/Paper9.pdf"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www.ijnrd.org/papers/IJNRD2310407.pdf" TargetMode="External"/><Relationship Id="rId5" Type="http://schemas.openxmlformats.org/officeDocument/2006/relationships/hyperlink" Target="https://www.kaggle.com/c/deepfake-detection-challenge/data" TargetMode="Externa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3" name="Picture 2"/>
          <p:cNvPicPr>
            <a:picLocks noChangeAspect="1"/>
          </p:cNvPicPr>
          <p:nvPr/>
        </p:nvPicPr>
        <p:blipFill>
          <a:blip r:embed="rId2"/>
          <a:stretch>
            <a:fillRect/>
          </a:stretch>
        </p:blipFill>
        <p:spPr>
          <a:xfrm>
            <a:off x="4300153" y="362509"/>
            <a:ext cx="10541594" cy="1457711"/>
          </a:xfrm>
          <a:prstGeom prst="rect">
            <a:avLst/>
          </a:prstGeom>
        </p:spPr>
      </p:pic>
      <p:pic>
        <p:nvPicPr>
          <p:cNvPr id="2097154" name="Picture 6"/>
          <p:cNvPicPr>
            <a:picLocks noChangeAspect="1"/>
          </p:cNvPicPr>
          <p:nvPr/>
        </p:nvPicPr>
        <p:blipFill>
          <a:blip r:embed="rId3"/>
          <a:stretch>
            <a:fillRect/>
          </a:stretch>
        </p:blipFill>
        <p:spPr>
          <a:xfrm>
            <a:off x="331124" y="257765"/>
            <a:ext cx="3299490" cy="1662825"/>
          </a:xfrm>
          <a:prstGeom prst="rect">
            <a:avLst/>
          </a:prstGeom>
        </p:spPr>
      </p:pic>
      <p:sp>
        <p:nvSpPr>
          <p:cNvPr id="1048616" name="TextBox 9"/>
          <p:cNvSpPr txBox="1"/>
          <p:nvPr/>
        </p:nvSpPr>
        <p:spPr>
          <a:xfrm>
            <a:off x="1196647" y="1826438"/>
            <a:ext cx="16342742"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Department of Computer Science Engineering-Data Science</a:t>
            </a:r>
          </a:p>
        </p:txBody>
      </p:sp>
      <p:sp>
        <p:nvSpPr>
          <p:cNvPr id="1048621" name="Rectangle 15"/>
          <p:cNvSpPr/>
          <p:nvPr/>
        </p:nvSpPr>
        <p:spPr>
          <a:xfrm>
            <a:off x="7072501" y="8275896"/>
            <a:ext cx="4142997" cy="461665"/>
          </a:xfrm>
          <a:prstGeom prst="rect">
            <a:avLst/>
          </a:prstGeom>
        </p:spPr>
        <p:txBody>
          <a:bodyPr wrap="square">
            <a:spAutoFit/>
          </a:bodyPr>
          <a:lstStyle/>
          <a:p>
            <a:pPr algn="ctr"/>
            <a:r>
              <a:rPr lang="en-US" sz="2400" b="1" u="sng"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Under the Guidance of </a:t>
            </a:r>
            <a:endParaRPr lang="en-US" sz="2400" b="1" u="sng" dirty="0">
              <a:latin typeface="Times New Roman" panose="02020603050405020304" pitchFamily="18" charset="0"/>
              <a:cs typeface="Times New Roman" panose="02020603050405020304" pitchFamily="18" charset="0"/>
            </a:endParaRPr>
          </a:p>
        </p:txBody>
      </p:sp>
      <p:sp>
        <p:nvSpPr>
          <p:cNvPr id="1048622" name="Rectangle 17"/>
          <p:cNvSpPr/>
          <p:nvPr/>
        </p:nvSpPr>
        <p:spPr>
          <a:xfrm>
            <a:off x="6146457" y="8767644"/>
            <a:ext cx="5835476" cy="1200329"/>
          </a:xfrm>
          <a:prstGeom prst="rect">
            <a:avLst/>
          </a:prstGeom>
        </p:spPr>
        <p:txBody>
          <a:bodyPr wrap="square">
            <a:spAutoFit/>
          </a:bodyPr>
          <a:lstStyle/>
          <a:p>
            <a:pPr algn="ctr"/>
            <a:r>
              <a:rPr lang="en-US"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Dr. Jagadish R.M</a:t>
            </a:r>
          </a:p>
          <a:p>
            <a:pPr algn="ctr"/>
            <a:r>
              <a:rPr lang="en-US"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Project Coordinator</a:t>
            </a:r>
          </a:p>
          <a:p>
            <a:pPr algn="ctr"/>
            <a:r>
              <a:rPr lang="en-US" sz="2400" dirty="0">
                <a:solidFill>
                  <a:srgbClr val="000000"/>
                </a:solidFill>
                <a:latin typeface="Times New Roman" panose="02020603050405020304" pitchFamily="18" charset="0"/>
                <a:cs typeface="Times New Roman" panose="02020603050405020304" pitchFamily="18" charset="0"/>
              </a:rPr>
              <a:t>Dept. of CSE-DS</a:t>
            </a:r>
            <a:endParaRPr lang="en-US" sz="2400" dirty="0">
              <a:latin typeface="Times New Roman" panose="02020603050405020304" pitchFamily="18" charset="0"/>
              <a:cs typeface="Times New Roman" panose="02020603050405020304" pitchFamily="18" charset="0"/>
            </a:endParaRPr>
          </a:p>
        </p:txBody>
      </p:sp>
      <p:sp>
        <p:nvSpPr>
          <p:cNvPr id="1048623" name="Rectangle 16"/>
          <p:cNvSpPr/>
          <p:nvPr/>
        </p:nvSpPr>
        <p:spPr>
          <a:xfrm>
            <a:off x="11829115" y="8706382"/>
            <a:ext cx="5079692" cy="1200329"/>
          </a:xfrm>
          <a:prstGeom prst="rect">
            <a:avLst/>
          </a:prstGeom>
        </p:spPr>
        <p:txBody>
          <a:bodyPr wrap="square">
            <a:spAutoFit/>
          </a:bodyPr>
          <a:lstStyle/>
          <a:p>
            <a:pPr algn="ctr"/>
            <a:r>
              <a:rPr lang="en-US"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Dr. D. Aradhana</a:t>
            </a:r>
          </a:p>
          <a:p>
            <a:pPr algn="ctr"/>
            <a:r>
              <a:rPr lang="en-US"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Head of the Department </a:t>
            </a:r>
          </a:p>
          <a:p>
            <a:pPr algn="ctr"/>
            <a:r>
              <a:rPr lang="en-US" sz="2400" dirty="0">
                <a:solidFill>
                  <a:srgbClr val="000000"/>
                </a:solidFill>
                <a:latin typeface="Times New Roman" panose="02020603050405020304" pitchFamily="18" charset="0"/>
                <a:cs typeface="Times New Roman" panose="02020603050405020304" pitchFamily="18" charset="0"/>
              </a:rPr>
              <a:t>Dept. of CSE-DS</a:t>
            </a:r>
            <a:endParaRPr lang="en-US" sz="2400" dirty="0">
              <a:latin typeface="Times New Roman" panose="02020603050405020304" pitchFamily="18" charset="0"/>
              <a:cs typeface="Times New Roman" panose="02020603050405020304" pitchFamily="18" charset="0"/>
            </a:endParaRPr>
          </a:p>
        </p:txBody>
      </p:sp>
      <p:pic>
        <p:nvPicPr>
          <p:cNvPr id="2097155" name="Picture 7"/>
          <p:cNvPicPr>
            <a:picLocks noChangeAspect="1"/>
          </p:cNvPicPr>
          <p:nvPr/>
        </p:nvPicPr>
        <p:blipFill rotWithShape="1">
          <a:blip r:embed="rId4"/>
          <a:srcRect l="6737" t="9425" r="9081" b="14499"/>
          <a:stretch>
            <a:fillRect/>
          </a:stretch>
        </p:blipFill>
        <p:spPr>
          <a:xfrm>
            <a:off x="15105419" y="65196"/>
            <a:ext cx="2954972" cy="2000250"/>
          </a:xfrm>
          <a:prstGeom prst="rect">
            <a:avLst/>
          </a:prstGeom>
        </p:spPr>
      </p:pic>
      <p:sp>
        <p:nvSpPr>
          <p:cNvPr id="2" name="TextBox 1"/>
          <p:cNvSpPr txBox="1"/>
          <p:nvPr/>
        </p:nvSpPr>
        <p:spPr>
          <a:xfrm>
            <a:off x="4038600" y="2822485"/>
            <a:ext cx="9532535" cy="2862322"/>
          </a:xfrm>
          <a:prstGeom prst="rect">
            <a:avLst/>
          </a:prstGeom>
          <a:noFill/>
        </p:spPr>
        <p:txBody>
          <a:bodyPr wrap="square" rtlCol="0">
            <a:spAutoFit/>
          </a:bodyPr>
          <a:lstStyle/>
          <a:p>
            <a:pPr algn="ctr"/>
            <a:r>
              <a:rPr lang="en-US" sz="2800" dirty="0">
                <a:latin typeface="Times New Roman" panose="02020603050405020304" pitchFamily="18" charset="0"/>
                <a:cs typeface="Times New Roman" panose="02020603050405020304" pitchFamily="18" charset="0"/>
              </a:rPr>
              <a:t>A  Major-Project Phase-2 Presentation </a:t>
            </a:r>
          </a:p>
          <a:p>
            <a:pPr algn="ctr"/>
            <a:r>
              <a:rPr lang="en-US" sz="2800" dirty="0">
                <a:latin typeface="Times New Roman" panose="02020603050405020304" pitchFamily="18" charset="0"/>
                <a:cs typeface="Times New Roman" panose="02020603050405020304" pitchFamily="18" charset="0"/>
              </a:rPr>
              <a:t>on</a:t>
            </a:r>
          </a:p>
          <a:p>
            <a:pPr algn="ctr"/>
            <a:r>
              <a:rPr lang="en-US" sz="4400" dirty="0">
                <a:solidFill>
                  <a:schemeClr val="accent5">
                    <a:lumMod val="75000"/>
                  </a:schemeClr>
                </a:solidFill>
                <a:latin typeface="Times New Roman" panose="02020603050405020304" pitchFamily="18" charset="0"/>
                <a:cs typeface="Times New Roman" panose="02020603050405020304" pitchFamily="18" charset="0"/>
              </a:rPr>
              <a:t>“</a:t>
            </a:r>
            <a:r>
              <a:rPr lang="en-US" sz="4400" b="1" dirty="0">
                <a:solidFill>
                  <a:schemeClr val="accent5">
                    <a:lumMod val="75000"/>
                  </a:schemeClr>
                </a:solidFill>
                <a:latin typeface="Times New Roman" panose="02020603050405020304" pitchFamily="18" charset="0"/>
                <a:cs typeface="Times New Roman" panose="02020603050405020304" pitchFamily="18" charset="0"/>
              </a:rPr>
              <a:t>AI Powered Deepfake Detection:</a:t>
            </a:r>
            <a:r>
              <a:rPr lang="en-US" sz="4400" dirty="0">
                <a:solidFill>
                  <a:schemeClr val="accent5">
                    <a:lumMod val="75000"/>
                  </a:schemeClr>
                </a:solidFill>
                <a:latin typeface="Times New Roman" panose="02020603050405020304" pitchFamily="18" charset="0"/>
                <a:cs typeface="Times New Roman" panose="02020603050405020304" pitchFamily="18" charset="0"/>
              </a:rPr>
              <a:t> Liveliness Detection</a:t>
            </a:r>
            <a:r>
              <a:rPr lang="en-US" sz="4400" dirty="0">
                <a:latin typeface="Times New Roman" panose="02020603050405020304" pitchFamily="18" charset="0"/>
                <a:cs typeface="Times New Roman" panose="02020603050405020304" pitchFamily="18" charset="0"/>
              </a:rPr>
              <a:t>”</a:t>
            </a:r>
          </a:p>
          <a:p>
            <a:pPr algn="ctr"/>
            <a:endParaRPr lang="en-IN" sz="3600" dirty="0">
              <a:solidFill>
                <a:schemeClr val="bg2"/>
              </a:solidFill>
              <a:latin typeface="Times New Roman" panose="02020603050405020304" pitchFamily="18" charset="0"/>
              <a:cs typeface="Times New Roman" panose="02020603050405020304" pitchFamily="18" charset="0"/>
            </a:endParaRPr>
          </a:p>
        </p:txBody>
      </p:sp>
      <p:sp>
        <p:nvSpPr>
          <p:cNvPr id="3" name="Rectangle 12">
            <a:extLst>
              <a:ext uri="{FF2B5EF4-FFF2-40B4-BE49-F238E27FC236}">
                <a16:creationId xmlns:a16="http://schemas.microsoft.com/office/drawing/2014/main" id="{04CEB389-BE77-8CBC-B2A2-BCEDC0A03D1D}"/>
              </a:ext>
            </a:extLst>
          </p:cNvPr>
          <p:cNvSpPr/>
          <p:nvPr/>
        </p:nvSpPr>
        <p:spPr>
          <a:xfrm>
            <a:off x="3978638" y="5789123"/>
            <a:ext cx="10171114" cy="461665"/>
          </a:xfrm>
          <a:prstGeom prst="rect">
            <a:avLst/>
          </a:prstGeom>
        </p:spPr>
        <p:txBody>
          <a:bodyPr wrap="square">
            <a:spAutoFit/>
          </a:bodyPr>
          <a:lstStyle/>
          <a:p>
            <a:pPr algn="ctr"/>
            <a:r>
              <a:rPr lang="en-US" sz="2400" dirty="0">
                <a:latin typeface="Times New Roman" panose="02020603050405020304" pitchFamily="18" charset="0"/>
                <a:ea typeface="Calibri" panose="020F0502020204030204" pitchFamily="34" charset="0"/>
                <a:cs typeface="Times New Roman" panose="02020603050405020304" pitchFamily="18" charset="0"/>
              </a:rPr>
              <a:t>     </a:t>
            </a:r>
            <a:r>
              <a:rPr lang="en-US" sz="2400" b="1" u="sng" dirty="0">
                <a:latin typeface="Times New Roman" panose="02020603050405020304" pitchFamily="18" charset="0"/>
                <a:ea typeface="Calibri" panose="020F0502020204030204" pitchFamily="34" charset="0"/>
                <a:cs typeface="Times New Roman" panose="02020603050405020304" pitchFamily="18" charset="0"/>
              </a:rPr>
              <a:t>Presented by</a:t>
            </a:r>
            <a:r>
              <a:rPr lang="en-US" sz="2400" dirty="0">
                <a:latin typeface="Times New Roman" panose="02020603050405020304" pitchFamily="18" charset="0"/>
                <a:cs typeface="Times New Roman" panose="02020603050405020304" pitchFamily="18" charset="0"/>
              </a:rPr>
              <a:t>                                   </a:t>
            </a:r>
            <a:r>
              <a:rPr lang="en-US" sz="2400" dirty="0">
                <a:latin typeface="Arial" panose="020B0604020202020204" pitchFamily="34" charset="0"/>
                <a:ea typeface="Calibri" panose="020F0502020204030204" pitchFamily="34" charset="0"/>
                <a:cs typeface="Arial" panose="020B0604020202020204" pitchFamily="34" charset="0"/>
              </a:rPr>
              <a:t>                  </a:t>
            </a:r>
            <a:endParaRPr lang="en-US" sz="2400" dirty="0">
              <a:latin typeface="Arial" panose="020B0604020202020204" pitchFamily="34" charset="0"/>
              <a:cs typeface="Arial" panose="020B0604020202020204" pitchFamily="34" charset="0"/>
            </a:endParaRPr>
          </a:p>
        </p:txBody>
      </p:sp>
      <p:graphicFrame>
        <p:nvGraphicFramePr>
          <p:cNvPr id="4" name="Table 3">
            <a:extLst>
              <a:ext uri="{FF2B5EF4-FFF2-40B4-BE49-F238E27FC236}">
                <a16:creationId xmlns:a16="http://schemas.microsoft.com/office/drawing/2014/main" id="{C808EB91-3DB7-A7B4-8B05-F25FF1B805C0}"/>
              </a:ext>
            </a:extLst>
          </p:cNvPr>
          <p:cNvGraphicFramePr>
            <a:graphicFrameLocks noGrp="1"/>
          </p:cNvGraphicFramePr>
          <p:nvPr>
            <p:extLst>
              <p:ext uri="{D42A27DB-BD31-4B8C-83A1-F6EECF244321}">
                <p14:modId xmlns:p14="http://schemas.microsoft.com/office/powerpoint/2010/main" val="1129706774"/>
              </p:ext>
            </p:extLst>
          </p:nvPr>
        </p:nvGraphicFramePr>
        <p:xfrm>
          <a:off x="6476999" y="6361918"/>
          <a:ext cx="5334000" cy="1584960"/>
        </p:xfrm>
        <a:graphic>
          <a:graphicData uri="http://schemas.openxmlformats.org/drawingml/2006/table">
            <a:tbl>
              <a:tblPr firstRow="1" bandRow="1">
                <a:tableStyleId>{2D5ABB26-0587-4C30-8999-92F81FD0307C}</a:tableStyleId>
              </a:tblPr>
              <a:tblGrid>
                <a:gridCol w="2667000">
                  <a:extLst>
                    <a:ext uri="{9D8B030D-6E8A-4147-A177-3AD203B41FA5}">
                      <a16:colId xmlns:a16="http://schemas.microsoft.com/office/drawing/2014/main" val="3343895659"/>
                    </a:ext>
                  </a:extLst>
                </a:gridCol>
                <a:gridCol w="2667000">
                  <a:extLst>
                    <a:ext uri="{9D8B030D-6E8A-4147-A177-3AD203B41FA5}">
                      <a16:colId xmlns:a16="http://schemas.microsoft.com/office/drawing/2014/main" val="2051304188"/>
                    </a:ext>
                  </a:extLst>
                </a:gridCol>
              </a:tblGrid>
              <a:tr h="370840">
                <a:tc>
                  <a:txBody>
                    <a:bodyPr/>
                    <a:lstStyle/>
                    <a:p>
                      <a:pPr algn="ctr"/>
                      <a:r>
                        <a:rPr lang="en-IN" sz="2000" b="1" dirty="0">
                          <a:latin typeface="Times New Roman" panose="02020603050405020304" pitchFamily="18" charset="0"/>
                          <a:cs typeface="Times New Roman" panose="02020603050405020304" pitchFamily="18" charset="0"/>
                        </a:rPr>
                        <a:t>Chetana H K</a:t>
                      </a:r>
                      <a:endParaRPr lang="en-US" sz="2000" b="1" dirty="0">
                        <a:latin typeface="Times New Roman" panose="02020603050405020304" pitchFamily="18" charset="0"/>
                        <a:cs typeface="Times New Roman" panose="02020603050405020304" pitchFamily="18" charset="0"/>
                      </a:endParaRPr>
                    </a:p>
                  </a:txBody>
                  <a:tcPr/>
                </a:tc>
                <a:tc>
                  <a:txBody>
                    <a:bodyPr/>
                    <a:lstStyle/>
                    <a:p>
                      <a:pPr algn="ctr"/>
                      <a:r>
                        <a:rPr lang="en-IN" sz="2000" b="1" dirty="0">
                          <a:latin typeface="Times New Roman" panose="02020603050405020304" pitchFamily="18" charset="0"/>
                          <a:cs typeface="Times New Roman" panose="02020603050405020304" pitchFamily="18" charset="0"/>
                        </a:rPr>
                        <a:t>3BR22CD007</a:t>
                      </a:r>
                      <a:endParaRPr lang="en-US" sz="20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21178101"/>
                  </a:ext>
                </a:extLst>
              </a:tr>
              <a:tr h="370840">
                <a:tc>
                  <a:txBody>
                    <a:bodyPr/>
                    <a:lstStyle/>
                    <a:p>
                      <a:pPr algn="ctr"/>
                      <a:r>
                        <a:rPr lang="en-IN" sz="2000" b="1" dirty="0">
                          <a:latin typeface="Times New Roman" panose="02020603050405020304" pitchFamily="18" charset="0"/>
                          <a:cs typeface="Times New Roman" panose="02020603050405020304" pitchFamily="18" charset="0"/>
                        </a:rPr>
                        <a:t>K Shashikala</a:t>
                      </a:r>
                      <a:endParaRPr lang="en-US" sz="2000" b="1" dirty="0">
                        <a:latin typeface="Times New Roman" panose="02020603050405020304" pitchFamily="18" charset="0"/>
                        <a:cs typeface="Times New Roman" panose="02020603050405020304" pitchFamily="18" charset="0"/>
                      </a:endParaRPr>
                    </a:p>
                  </a:txBody>
                  <a:tcPr/>
                </a:tc>
                <a:tc>
                  <a:txBody>
                    <a:bodyPr/>
                    <a:lstStyle/>
                    <a:p>
                      <a:pPr algn="ctr"/>
                      <a:r>
                        <a:rPr lang="en-IN" sz="2000" b="1" dirty="0">
                          <a:latin typeface="Times New Roman" panose="02020603050405020304" pitchFamily="18" charset="0"/>
                          <a:cs typeface="Times New Roman" panose="02020603050405020304" pitchFamily="18" charset="0"/>
                        </a:rPr>
                        <a:t>3BR22CD023</a:t>
                      </a:r>
                      <a:endParaRPr lang="en-US" sz="20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93561552"/>
                  </a:ext>
                </a:extLst>
              </a:tr>
              <a:tr h="370840">
                <a:tc>
                  <a:txBody>
                    <a:bodyPr/>
                    <a:lstStyle/>
                    <a:p>
                      <a:pPr algn="ctr"/>
                      <a:r>
                        <a:rPr lang="en-IN" sz="2000" b="1" dirty="0">
                          <a:latin typeface="Times New Roman" panose="02020603050405020304" pitchFamily="18" charset="0"/>
                          <a:cs typeface="Times New Roman" panose="02020603050405020304" pitchFamily="18" charset="0"/>
                        </a:rPr>
                        <a:t>Mounika M</a:t>
                      </a:r>
                      <a:endParaRPr lang="en-US" sz="2000" b="1" dirty="0">
                        <a:latin typeface="Times New Roman" panose="02020603050405020304" pitchFamily="18" charset="0"/>
                        <a:cs typeface="Times New Roman" panose="02020603050405020304" pitchFamily="18" charset="0"/>
                      </a:endParaRPr>
                    </a:p>
                  </a:txBody>
                  <a:tcPr/>
                </a:tc>
                <a:tc>
                  <a:txBody>
                    <a:bodyPr/>
                    <a:lstStyle/>
                    <a:p>
                      <a:pPr algn="ctr"/>
                      <a:r>
                        <a:rPr lang="en-IN" sz="2000" b="1" dirty="0">
                          <a:latin typeface="Times New Roman" panose="02020603050405020304" pitchFamily="18" charset="0"/>
                          <a:cs typeface="Times New Roman" panose="02020603050405020304" pitchFamily="18" charset="0"/>
                        </a:rPr>
                        <a:t>3BR22CD039</a:t>
                      </a:r>
                      <a:endParaRPr lang="en-US" sz="20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55807040"/>
                  </a:ext>
                </a:extLst>
              </a:tr>
              <a:tr h="370840">
                <a:tc>
                  <a:txBody>
                    <a:bodyPr/>
                    <a:lstStyle/>
                    <a:p>
                      <a:pPr algn="ctr"/>
                      <a:r>
                        <a:rPr lang="en-IN" sz="2000" b="1" dirty="0">
                          <a:latin typeface="Times New Roman" panose="02020603050405020304" pitchFamily="18" charset="0"/>
                          <a:cs typeface="Times New Roman" panose="02020603050405020304" pitchFamily="18" charset="0"/>
                        </a:rPr>
                        <a:t>Pushpitha J R</a:t>
                      </a:r>
                      <a:endParaRPr lang="en-US" sz="2000" b="1" dirty="0">
                        <a:latin typeface="Times New Roman" panose="02020603050405020304" pitchFamily="18" charset="0"/>
                        <a:cs typeface="Times New Roman" panose="02020603050405020304" pitchFamily="18" charset="0"/>
                      </a:endParaRPr>
                    </a:p>
                  </a:txBody>
                  <a:tcPr/>
                </a:tc>
                <a:tc>
                  <a:txBody>
                    <a:bodyPr/>
                    <a:lstStyle/>
                    <a:p>
                      <a:pPr algn="ctr"/>
                      <a:r>
                        <a:rPr lang="en-IN" sz="2000" b="1" dirty="0">
                          <a:latin typeface="Times New Roman" panose="02020603050405020304" pitchFamily="18" charset="0"/>
                          <a:cs typeface="Times New Roman" panose="02020603050405020304" pitchFamily="18" charset="0"/>
                        </a:rPr>
                        <a:t>3BR22CD046</a:t>
                      </a:r>
                      <a:endParaRPr lang="en-US" sz="20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69588464"/>
                  </a:ext>
                </a:extLst>
              </a:tr>
            </a:tbl>
          </a:graphicData>
        </a:graphic>
      </p:graphicFrame>
      <p:sp>
        <p:nvSpPr>
          <p:cNvPr id="5" name="Rectangle 17">
            <a:extLst>
              <a:ext uri="{FF2B5EF4-FFF2-40B4-BE49-F238E27FC236}">
                <a16:creationId xmlns:a16="http://schemas.microsoft.com/office/drawing/2014/main" id="{0EAB4329-889E-1208-D7F5-FA8384D9E230}"/>
              </a:ext>
            </a:extLst>
          </p:cNvPr>
          <p:cNvSpPr/>
          <p:nvPr/>
        </p:nvSpPr>
        <p:spPr>
          <a:xfrm>
            <a:off x="914400" y="8828906"/>
            <a:ext cx="5835476" cy="1200329"/>
          </a:xfrm>
          <a:prstGeom prst="rect">
            <a:avLst/>
          </a:prstGeom>
        </p:spPr>
        <p:txBody>
          <a:bodyPr wrap="square">
            <a:spAutoFit/>
          </a:bodyPr>
          <a:lstStyle/>
          <a:p>
            <a:pPr algn="ctr"/>
            <a:r>
              <a:rPr lang="en-US"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Dr. Jagadish R.M</a:t>
            </a:r>
          </a:p>
          <a:p>
            <a:pPr algn="ctr"/>
            <a:r>
              <a:rPr lang="en-US"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Project Guide</a:t>
            </a:r>
          </a:p>
          <a:p>
            <a:pPr algn="ctr"/>
            <a:r>
              <a:rPr lang="en-US" sz="2400" dirty="0">
                <a:solidFill>
                  <a:srgbClr val="000000"/>
                </a:solidFill>
                <a:latin typeface="Times New Roman" panose="02020603050405020304" pitchFamily="18" charset="0"/>
                <a:cs typeface="Times New Roman" panose="02020603050405020304" pitchFamily="18" charset="0"/>
              </a:rPr>
              <a:t>Dept. of CSE-DS</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 name="object 19"/>
          <p:cNvSpPr txBox="1"/>
          <p:nvPr/>
        </p:nvSpPr>
        <p:spPr>
          <a:xfrm>
            <a:off x="910666" y="176206"/>
            <a:ext cx="15243733" cy="1243930"/>
          </a:xfrm>
          <a:prstGeom prst="rect">
            <a:avLst/>
          </a:prstGeom>
        </p:spPr>
        <p:txBody>
          <a:bodyPr vert="horz" wrap="square" lIns="0" tIns="12700" rIns="0" bIns="0" rtlCol="0">
            <a:spAutoFit/>
          </a:bodyPr>
          <a:lstStyle/>
          <a:p>
            <a:pPr marL="12700" algn="ctr">
              <a:lnSpc>
                <a:spcPct val="100000"/>
              </a:lnSpc>
              <a:spcBef>
                <a:spcPts val="100"/>
              </a:spcBef>
            </a:pPr>
            <a:r>
              <a:rPr lang="en-IN" sz="8000" b="1" spc="225" dirty="0">
                <a:latin typeface="Times New Roman"/>
                <a:cs typeface="Times New Roman"/>
              </a:rPr>
              <a:t>CONTENTS</a:t>
            </a:r>
            <a:endParaRPr lang="en-IN" sz="8000" dirty="0">
              <a:latin typeface="Times New Roman"/>
              <a:cs typeface="Times New Roman"/>
            </a:endParaRPr>
          </a:p>
        </p:txBody>
      </p:sp>
      <p:graphicFrame>
        <p:nvGraphicFramePr>
          <p:cNvPr id="5" name="Table 4">
            <a:extLst>
              <a:ext uri="{FF2B5EF4-FFF2-40B4-BE49-F238E27FC236}">
                <a16:creationId xmlns:a16="http://schemas.microsoft.com/office/drawing/2014/main" id="{4D47A45B-B7A6-5CC0-2E4B-944DE4D962AF}"/>
              </a:ext>
            </a:extLst>
          </p:cNvPr>
          <p:cNvGraphicFramePr>
            <a:graphicFrameLocks noGrp="1"/>
          </p:cNvGraphicFramePr>
          <p:nvPr>
            <p:extLst>
              <p:ext uri="{D42A27DB-BD31-4B8C-83A1-F6EECF244321}">
                <p14:modId xmlns:p14="http://schemas.microsoft.com/office/powerpoint/2010/main" val="551552051"/>
              </p:ext>
            </p:extLst>
          </p:nvPr>
        </p:nvGraphicFramePr>
        <p:xfrm>
          <a:off x="1143000" y="1705934"/>
          <a:ext cx="14554200" cy="8930640"/>
        </p:xfrm>
        <a:graphic>
          <a:graphicData uri="http://schemas.openxmlformats.org/drawingml/2006/table">
            <a:tbl>
              <a:tblPr firstRow="1" bandRow="1">
                <a:tableStyleId>{2D5ABB26-0587-4C30-8999-92F81FD0307C}</a:tableStyleId>
              </a:tblPr>
              <a:tblGrid>
                <a:gridCol w="14554200">
                  <a:extLst>
                    <a:ext uri="{9D8B030D-6E8A-4147-A177-3AD203B41FA5}">
                      <a16:colId xmlns:a16="http://schemas.microsoft.com/office/drawing/2014/main" val="4132006639"/>
                    </a:ext>
                  </a:extLst>
                </a:gridCol>
              </a:tblGrid>
              <a:tr h="455312">
                <a:tc>
                  <a:txBody>
                    <a:bodyPr/>
                    <a:lstStyle/>
                    <a:p>
                      <a:pPr marL="457200" indent="-457200">
                        <a:buFont typeface="Wingdings" panose="05000000000000000000" pitchFamily="2" charset="2"/>
                        <a:buChar char="Ø"/>
                      </a:pPr>
                      <a:r>
                        <a:rPr lang="en-IN" sz="3200" dirty="0">
                          <a:latin typeface="Times New Roman" panose="02020603050405020304" pitchFamily="18" charset="0"/>
                          <a:cs typeface="Times New Roman" panose="02020603050405020304" pitchFamily="18" charset="0"/>
                        </a:rPr>
                        <a:t>ABSTRACT</a:t>
                      </a:r>
                      <a:endParaRPr lang="en-US"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91486064"/>
                  </a:ext>
                </a:extLst>
              </a:tr>
              <a:tr h="3906096">
                <a:tc>
                  <a:txBody>
                    <a:bodyPr/>
                    <a:lstStyle/>
                    <a:p>
                      <a:pPr marL="457200" indent="-457200">
                        <a:buFont typeface="Wingdings" panose="05000000000000000000" pitchFamily="2" charset="2"/>
                        <a:buChar char="Ø"/>
                      </a:pPr>
                      <a:r>
                        <a:rPr lang="en-IN" sz="3200" dirty="0">
                          <a:latin typeface="Times New Roman" panose="02020603050405020304" pitchFamily="18" charset="0"/>
                          <a:cs typeface="Times New Roman" panose="02020603050405020304" pitchFamily="18" charset="0"/>
                        </a:rPr>
                        <a:t>OBJECTIVES</a:t>
                      </a:r>
                    </a:p>
                    <a:p>
                      <a:pPr marL="457200" marR="0" lvl="0" indent="-457200"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IN" sz="3200" dirty="0">
                          <a:latin typeface="Times New Roman" panose="02020603050405020304" pitchFamily="18" charset="0"/>
                          <a:cs typeface="Times New Roman" panose="02020603050405020304" pitchFamily="18" charset="0"/>
                        </a:rPr>
                        <a:t>PROBLEM STATEMENT</a:t>
                      </a:r>
                      <a:endParaRPr lang="en-US" sz="3200" dirty="0">
                        <a:latin typeface="Times New Roman" panose="02020603050405020304" pitchFamily="18" charset="0"/>
                        <a:cs typeface="Times New Roman" panose="02020603050405020304" pitchFamily="18" charset="0"/>
                      </a:endParaRPr>
                    </a:p>
                    <a:p>
                      <a:pPr marL="457200" marR="0" lvl="0" indent="-457200"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IN" sz="3200" dirty="0">
                          <a:latin typeface="Times New Roman" panose="02020603050405020304" pitchFamily="18" charset="0"/>
                          <a:cs typeface="Times New Roman" panose="02020603050405020304" pitchFamily="18" charset="0"/>
                        </a:rPr>
                        <a:t>SCOPE OF THE PROJECT</a:t>
                      </a:r>
                    </a:p>
                    <a:p>
                      <a:pPr marL="457200" marR="0" lvl="0" indent="-457200"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IN" sz="3200" dirty="0">
                          <a:latin typeface="Times New Roman" panose="02020603050405020304" pitchFamily="18" charset="0"/>
                          <a:cs typeface="Times New Roman" panose="02020603050405020304" pitchFamily="18" charset="0"/>
                        </a:rPr>
                        <a:t>SOFTWARE/HARDWARE REQUIREMENTS</a:t>
                      </a:r>
                      <a:endParaRPr lang="en-US" sz="3200" dirty="0">
                        <a:latin typeface="Times New Roman" panose="02020603050405020304" pitchFamily="18" charset="0"/>
                        <a:cs typeface="Times New Roman" panose="02020603050405020304" pitchFamily="18" charset="0"/>
                      </a:endParaRPr>
                    </a:p>
                    <a:p>
                      <a:pPr marL="457200" marR="0" lvl="0" indent="-457200"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IN" sz="3200" dirty="0">
                          <a:latin typeface="Times New Roman" panose="02020603050405020304" pitchFamily="18" charset="0"/>
                          <a:cs typeface="Times New Roman" panose="02020603050405020304" pitchFamily="18" charset="0"/>
                        </a:rPr>
                        <a:t>DESCRIPTION OF MODULES</a:t>
                      </a:r>
                    </a:p>
                    <a:p>
                      <a:pPr marL="457200" marR="0" lvl="0" indent="-457200"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IN" sz="3200" dirty="0">
                          <a:latin typeface="Times New Roman" panose="02020603050405020304" pitchFamily="18" charset="0"/>
                          <a:cs typeface="Times New Roman" panose="02020603050405020304" pitchFamily="18" charset="0"/>
                        </a:rPr>
                        <a:t>IMPLEMENTATION</a:t>
                      </a:r>
                    </a:p>
                    <a:p>
                      <a:pPr marL="457200" marR="0" lvl="0" indent="-457200"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sz="3200" dirty="0">
                          <a:latin typeface="Times New Roman" panose="02020603050405020304" pitchFamily="18" charset="0"/>
                          <a:cs typeface="Times New Roman" panose="02020603050405020304" pitchFamily="18" charset="0"/>
                        </a:rPr>
                        <a:t>T</a:t>
                      </a:r>
                      <a:r>
                        <a:rPr lang="en-IN" sz="3200" dirty="0">
                          <a:latin typeface="Times New Roman" panose="02020603050405020304" pitchFamily="18" charset="0"/>
                          <a:cs typeface="Times New Roman" panose="02020603050405020304" pitchFamily="18" charset="0"/>
                        </a:rPr>
                        <a:t>ESTING</a:t>
                      </a:r>
                    </a:p>
                    <a:p>
                      <a:pPr marL="457200" marR="0" lvl="0" indent="-457200"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sz="3200" dirty="0">
                          <a:latin typeface="Times New Roman" panose="02020603050405020304" pitchFamily="18" charset="0"/>
                          <a:cs typeface="Times New Roman" panose="02020603050405020304" pitchFamily="18" charset="0"/>
                        </a:rPr>
                        <a:t>RESULT(SNAP SHOTS)</a:t>
                      </a:r>
                    </a:p>
                    <a:p>
                      <a:pPr marL="457200" marR="0" lvl="0" indent="-457200"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sz="3200" dirty="0">
                          <a:latin typeface="Times New Roman" panose="02020603050405020304" pitchFamily="18" charset="0"/>
                          <a:cs typeface="Times New Roman" panose="02020603050405020304" pitchFamily="18" charset="0"/>
                        </a:rPr>
                        <a:t>CONCLUSION</a:t>
                      </a:r>
                    </a:p>
                    <a:p>
                      <a:pPr marL="457200" marR="0" lvl="0" indent="-457200" defTabSz="91440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sz="3200" dirty="0">
                          <a:latin typeface="Times New Roman" panose="02020603050405020304" pitchFamily="18" charset="0"/>
                          <a:cs typeface="Times New Roman" panose="02020603050405020304" pitchFamily="18" charset="0"/>
                        </a:rPr>
                        <a:t>REFERENCES</a:t>
                      </a:r>
                    </a:p>
                    <a:p>
                      <a:pPr marL="457200" indent="-457200">
                        <a:buFont typeface="Wingdings" panose="05000000000000000000" pitchFamily="2" charset="2"/>
                        <a:buChar char="Ø"/>
                      </a:pPr>
                      <a:endParaRPr lang="en-US"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03382550"/>
                  </a:ext>
                </a:extLst>
              </a:tr>
              <a:tr h="455312">
                <a:tc>
                  <a:txBody>
                    <a:bodyPr/>
                    <a:lstStyle/>
                    <a:p>
                      <a:pPr marL="0" indent="0">
                        <a:buFont typeface="Wingdings" panose="05000000000000000000" pitchFamily="2" charset="2"/>
                        <a:buNone/>
                      </a:pPr>
                      <a:endParaRPr lang="en-US"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38629531"/>
                  </a:ext>
                </a:extLst>
              </a:tr>
              <a:tr h="455312">
                <a:tc>
                  <a:txBody>
                    <a:bodyPr/>
                    <a:lstStyle/>
                    <a:p>
                      <a:pPr marL="0" marR="0" lvl="0" indent="0" defTabSz="914400" eaLnBrk="1" fontAlgn="auto" latinLnBrk="0" hangingPunct="1">
                        <a:lnSpc>
                          <a:spcPct val="100000"/>
                        </a:lnSpc>
                        <a:spcBef>
                          <a:spcPts val="0"/>
                        </a:spcBef>
                        <a:spcAft>
                          <a:spcPts val="0"/>
                        </a:spcAft>
                        <a:buClrTx/>
                        <a:buSzTx/>
                        <a:buFont typeface="Wingdings" panose="05000000000000000000" pitchFamily="2" charset="2"/>
                        <a:buNone/>
                        <a:tabLst/>
                        <a:defRPr/>
                      </a:pPr>
                      <a:endParaRPr lang="en-IN"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31884860"/>
                  </a:ext>
                </a:extLst>
              </a:tr>
              <a:tr h="455312">
                <a:tc>
                  <a:txBody>
                    <a:bodyPr/>
                    <a:lstStyle/>
                    <a:p>
                      <a:pPr marL="0" marR="0" lvl="0" indent="0" defTabSz="914400" eaLnBrk="1" fontAlgn="auto" latinLnBrk="0" hangingPunct="1">
                        <a:lnSpc>
                          <a:spcPct val="100000"/>
                        </a:lnSpc>
                        <a:spcBef>
                          <a:spcPts val="0"/>
                        </a:spcBef>
                        <a:spcAft>
                          <a:spcPts val="0"/>
                        </a:spcAft>
                        <a:buClrTx/>
                        <a:buSzTx/>
                        <a:buFont typeface="Wingdings" panose="05000000000000000000" pitchFamily="2" charset="2"/>
                        <a:buNone/>
                        <a:tabLst/>
                        <a:defRPr/>
                      </a:pPr>
                      <a:endParaRPr lang="en-IN"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36740019"/>
                  </a:ext>
                </a:extLst>
              </a:tr>
              <a:tr h="455312">
                <a:tc>
                  <a:txBody>
                    <a:bodyPr/>
                    <a:lstStyle/>
                    <a:p>
                      <a:pPr marL="0" marR="0" lvl="0" indent="0" defTabSz="914400" eaLnBrk="1" fontAlgn="auto" latinLnBrk="0" hangingPunct="1">
                        <a:lnSpc>
                          <a:spcPct val="100000"/>
                        </a:lnSpc>
                        <a:spcBef>
                          <a:spcPts val="0"/>
                        </a:spcBef>
                        <a:spcAft>
                          <a:spcPts val="0"/>
                        </a:spcAft>
                        <a:buClrTx/>
                        <a:buSzTx/>
                        <a:buFont typeface="Wingdings" panose="05000000000000000000" pitchFamily="2" charset="2"/>
                        <a:buNone/>
                        <a:tabLst/>
                        <a:defRPr/>
                      </a:pPr>
                      <a:endParaRPr lang="en-IN"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60086850"/>
                  </a:ext>
                </a:extLst>
              </a:tr>
              <a:tr h="455312">
                <a:tc>
                  <a:txBody>
                    <a:bodyPr/>
                    <a:lstStyle/>
                    <a:p>
                      <a:pPr marL="0" marR="0" lvl="0" indent="0" defTabSz="914400" eaLnBrk="1" fontAlgn="auto" latinLnBrk="0" hangingPunct="1">
                        <a:lnSpc>
                          <a:spcPct val="100000"/>
                        </a:lnSpc>
                        <a:spcBef>
                          <a:spcPts val="0"/>
                        </a:spcBef>
                        <a:spcAft>
                          <a:spcPts val="0"/>
                        </a:spcAft>
                        <a:buClrTx/>
                        <a:buSzTx/>
                        <a:buFont typeface="Wingdings" panose="05000000000000000000" pitchFamily="2" charset="2"/>
                        <a:buNone/>
                        <a:tabLst/>
                        <a:defRPr/>
                      </a:pPr>
                      <a:endParaRPr lang="en-US"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66454193"/>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a:spLocks noGrp="1"/>
          </p:cNvSpPr>
          <p:nvPr>
            <p:ph type="title"/>
          </p:nvPr>
        </p:nvSpPr>
        <p:spPr>
          <a:xfrm>
            <a:off x="533400" y="342900"/>
            <a:ext cx="16916400" cy="1243930"/>
          </a:xfrm>
          <a:prstGeom prst="rect">
            <a:avLst/>
          </a:prstGeom>
        </p:spPr>
        <p:txBody>
          <a:bodyPr vert="horz" wrap="square" lIns="0" tIns="12700" rIns="0" bIns="0" rtlCol="0">
            <a:spAutoFit/>
          </a:bodyPr>
          <a:lstStyle/>
          <a:p>
            <a:pPr marL="12700" marR="5080" indent="965835" algn="ctr">
              <a:lnSpc>
                <a:spcPct val="100000"/>
              </a:lnSpc>
              <a:spcBef>
                <a:spcPts val="100"/>
              </a:spcBef>
            </a:pPr>
            <a:r>
              <a:rPr lang="en-IN" sz="8000" spc="345" dirty="0"/>
              <a:t>ABSTRACT</a:t>
            </a:r>
            <a:endParaRPr sz="8000" spc="250" dirty="0"/>
          </a:p>
        </p:txBody>
      </p:sp>
      <p:sp>
        <p:nvSpPr>
          <p:cNvPr id="16" name="TextBox 15">
            <a:extLst>
              <a:ext uri="{FF2B5EF4-FFF2-40B4-BE49-F238E27FC236}">
                <a16:creationId xmlns:a16="http://schemas.microsoft.com/office/drawing/2014/main" id="{2522642A-3EC5-B3E5-8A46-D9A6D34219DD}"/>
              </a:ext>
            </a:extLst>
          </p:cNvPr>
          <p:cNvSpPr txBox="1"/>
          <p:nvPr/>
        </p:nvSpPr>
        <p:spPr>
          <a:xfrm>
            <a:off x="762000" y="2512010"/>
            <a:ext cx="16916400" cy="6186309"/>
          </a:xfrm>
          <a:prstGeom prst="rect">
            <a:avLst/>
          </a:prstGeom>
          <a:noFill/>
        </p:spPr>
        <p:txBody>
          <a:bodyPr wrap="square">
            <a:spAutoFit/>
          </a:bodyPr>
          <a:lstStyle/>
          <a:p>
            <a:pPr algn="just"/>
            <a:r>
              <a:rPr lang="en-US" sz="3600" b="0" i="0" dirty="0">
                <a:solidFill>
                  <a:srgbClr val="333333"/>
                </a:solidFill>
                <a:effectLst/>
                <a:latin typeface="Times New Roman" panose="02020603050405020304" pitchFamily="18" charset="0"/>
                <a:cs typeface="Times New Roman" panose="02020603050405020304" pitchFamily="18" charset="0"/>
              </a:rPr>
              <a:t>Every person in this new generation has access to all of humanity's wisdom. Many technological possibilities are available. Nonetheless, we misuse this benefit by using deepfake for face swap. The deep fake method of machine learning, which is popular on social media, superimposes one person's face over another person's face. Deep learning, which has allowed researchers to produce deepfake images and videos considerably more rapidly and affordably, is the main ingredient in deepfakes. </a:t>
            </a:r>
            <a:endParaRPr lang="en-US" sz="3600" dirty="0">
              <a:latin typeface="Times New Roman" panose="02020603050405020304" pitchFamily="18" charset="0"/>
              <a:ea typeface="Tahoma" panose="020B0604030504040204" pitchFamily="34" charset="0"/>
              <a:cs typeface="Times New Roman" panose="02020603050405020304" pitchFamily="18" charset="0"/>
            </a:endParaRPr>
          </a:p>
          <a:p>
            <a:pPr algn="just"/>
            <a:r>
              <a:rPr lang="en-US" sz="3600" dirty="0">
                <a:latin typeface="Times New Roman" panose="02020603050405020304" pitchFamily="18" charset="0"/>
                <a:ea typeface="Tahoma" panose="020B0604030504040204" pitchFamily="34" charset="0"/>
                <a:cs typeface="Times New Roman" panose="02020603050405020304" pitchFamily="18" charset="0"/>
              </a:rPr>
              <a:t>This project focuses on detecting deepfake media using AI techniques. With the rise of manipulated videos and images, particularly those generated using deep learning, this system aims to analyze visual cues and artifacts to identify fake content with high accuracy.</a:t>
            </a:r>
          </a:p>
          <a:p>
            <a:pPr algn="just"/>
            <a:endParaRPr lang="en-US" sz="3600" dirty="0">
              <a:latin typeface="Times New Roman" panose="02020603050405020304" pitchFamily="18" charset="0"/>
              <a:ea typeface="Tahoma" panose="020B0604030504040204" pitchFamily="34"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838200" y="642993"/>
            <a:ext cx="16306800" cy="1243930"/>
          </a:xfrm>
          <a:prstGeom prst="rect">
            <a:avLst/>
          </a:prstGeom>
        </p:spPr>
        <p:txBody>
          <a:bodyPr vert="horz" wrap="square" lIns="0" tIns="12700" rIns="0" bIns="0" rtlCol="0">
            <a:spAutoFit/>
          </a:bodyPr>
          <a:lstStyle/>
          <a:p>
            <a:pPr marL="12700" algn="ctr">
              <a:lnSpc>
                <a:spcPct val="100000"/>
              </a:lnSpc>
              <a:spcBef>
                <a:spcPts val="100"/>
              </a:spcBef>
            </a:pPr>
            <a:r>
              <a:rPr lang="en-IN" sz="8000" spc="390" dirty="0"/>
              <a:t>OBJECTIVES</a:t>
            </a:r>
            <a:endParaRPr sz="8000" spc="390" dirty="0"/>
          </a:p>
        </p:txBody>
      </p:sp>
      <p:sp>
        <p:nvSpPr>
          <p:cNvPr id="9" name="object 9"/>
          <p:cNvSpPr txBox="1"/>
          <p:nvPr/>
        </p:nvSpPr>
        <p:spPr>
          <a:xfrm>
            <a:off x="5028639" y="6345527"/>
            <a:ext cx="13030200" cy="505267"/>
          </a:xfrm>
          <a:prstGeom prst="rect">
            <a:avLst/>
          </a:prstGeom>
        </p:spPr>
        <p:txBody>
          <a:bodyPr vert="horz" wrap="square" lIns="0" tIns="12700" rIns="0" bIns="0" rtlCol="0">
            <a:spAutoFit/>
          </a:bodyPr>
          <a:lstStyle/>
          <a:p>
            <a:pPr marR="26670" algn="ctr">
              <a:lnSpc>
                <a:spcPct val="100000"/>
              </a:lnSpc>
              <a:spcBef>
                <a:spcPts val="100"/>
              </a:spcBef>
            </a:pPr>
            <a:endParaRPr lang="en-US" sz="3200" dirty="0">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42DE3E99-5CDE-BFA9-FFDC-0600A66598CA}"/>
              </a:ext>
            </a:extLst>
          </p:cNvPr>
          <p:cNvSpPr>
            <a:spLocks noChangeArrowheads="1"/>
          </p:cNvSpPr>
          <p:nvPr/>
        </p:nvSpPr>
        <p:spPr bwMode="auto">
          <a:xfrm>
            <a:off x="277091" y="2690424"/>
            <a:ext cx="17754039" cy="4906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detect deepfakes using </a:t>
            </a:r>
            <a:r>
              <a:rPr lang="en-US" altLang="en-US" sz="4000" dirty="0">
                <a:solidFill>
                  <a:schemeClr val="tx1"/>
                </a:solidFill>
                <a:latin typeface="Times New Roman" panose="02020603050405020304" pitchFamily="18" charset="0"/>
                <a:cs typeface="Times New Roman" panose="02020603050405020304" pitchFamily="18" charset="0"/>
              </a:rPr>
              <a:t>deep learning</a:t>
            </a: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models.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implement liveness detection to prevent spoofing using images, videos, or masks.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a:t>
            </a:r>
            <a:r>
              <a:rPr lang="en-US" altLang="en-US" sz="4000" dirty="0">
                <a:solidFill>
                  <a:schemeClr val="tx1"/>
                </a:solidFill>
                <a:latin typeface="Times New Roman" panose="02020603050405020304" pitchFamily="18" charset="0"/>
                <a:cs typeface="Times New Roman" panose="02020603050405020304" pitchFamily="18" charset="0"/>
              </a:rPr>
              <a:t>d</a:t>
            </a: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istinguish between live humans and deepfakes or replayed content.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t>
            </a:r>
            <a:r>
              <a:rPr lang="en-US" altLang="en-US" sz="4000" dirty="0">
                <a:solidFill>
                  <a:schemeClr val="tx1"/>
                </a:solidFill>
                <a:latin typeface="Times New Roman" panose="02020603050405020304" pitchFamily="18" charset="0"/>
                <a:cs typeface="Times New Roman" panose="02020603050405020304" pitchFamily="18" charset="0"/>
              </a:rPr>
              <a:t>c</a:t>
            </a: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reate a </a:t>
            </a:r>
            <a:r>
              <a:rPr lang="en-US" altLang="en-US" sz="4000" dirty="0">
                <a:solidFill>
                  <a:schemeClr val="tx1"/>
                </a:solidFill>
                <a:latin typeface="Times New Roman" panose="02020603050405020304" pitchFamily="18" charset="0"/>
                <a:cs typeface="Times New Roman" panose="02020603050405020304" pitchFamily="18" charset="0"/>
              </a:rPr>
              <a:t>user-friendly web platform to easily upload the images and video</a:t>
            </a: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a:t>
            </a:r>
            <a:r>
              <a:rPr lang="en-US" altLang="en-US" sz="4000" dirty="0">
                <a:solidFill>
                  <a:schemeClr val="tx1"/>
                </a:solidFill>
                <a:latin typeface="Times New Roman" panose="02020603050405020304" pitchFamily="18" charset="0"/>
                <a:cs typeface="Times New Roman" panose="02020603050405020304" pitchFamily="18" charset="0"/>
              </a:rPr>
              <a:t>p</a:t>
            </a: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rovide visual feedback or a report of detection results.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object 14"/>
          <p:cNvSpPr txBox="1"/>
          <p:nvPr/>
        </p:nvSpPr>
        <p:spPr>
          <a:xfrm>
            <a:off x="1752600" y="2628900"/>
            <a:ext cx="14492950" cy="2721258"/>
          </a:xfrm>
          <a:prstGeom prst="rect">
            <a:avLst/>
          </a:prstGeom>
        </p:spPr>
        <p:txBody>
          <a:bodyPr vert="horz" wrap="square" lIns="0" tIns="12700" rIns="0" bIns="0" rtlCol="0">
            <a:spAutoFit/>
          </a:bodyPr>
          <a:lstStyle/>
          <a:p>
            <a:pPr marL="694690" algn="just">
              <a:lnSpc>
                <a:spcPct val="100000"/>
              </a:lnSpc>
              <a:spcBef>
                <a:spcPts val="100"/>
              </a:spcBef>
            </a:pPr>
            <a:r>
              <a:rPr lang="en-US" sz="4400" dirty="0">
                <a:latin typeface="Times New Roman" panose="02020603050405020304" pitchFamily="18" charset="0"/>
                <a:cs typeface="Times New Roman" panose="02020603050405020304" pitchFamily="18" charset="0"/>
              </a:rPr>
              <a:t>To develop an AI-powered system capable of detecting deepfake content and verifying real- time human presence through liveness detection, to enhance digital security, ensure media authenticity, and prevent identity spoofing attacks</a:t>
            </a:r>
            <a:r>
              <a:rPr lang="en-US" sz="4400" dirty="0"/>
              <a:t>.</a:t>
            </a:r>
            <a:endParaRPr lang="en-US" sz="4400" dirty="0">
              <a:latin typeface="Times New Roman" panose="02020603050405020304" pitchFamily="18" charset="0"/>
              <a:cs typeface="Times New Roman" panose="02020603050405020304" pitchFamily="18" charset="0"/>
            </a:endParaRPr>
          </a:p>
        </p:txBody>
      </p:sp>
      <p:sp>
        <p:nvSpPr>
          <p:cNvPr id="15" name="object 15"/>
          <p:cNvSpPr txBox="1">
            <a:spLocks noGrp="1"/>
          </p:cNvSpPr>
          <p:nvPr>
            <p:ph type="title"/>
          </p:nvPr>
        </p:nvSpPr>
        <p:spPr>
          <a:xfrm>
            <a:off x="457200" y="603964"/>
            <a:ext cx="17602200" cy="1243930"/>
          </a:xfrm>
          <a:prstGeom prst="rect">
            <a:avLst/>
          </a:prstGeom>
        </p:spPr>
        <p:txBody>
          <a:bodyPr vert="horz" wrap="square" lIns="0" tIns="12700" rIns="0" bIns="0" rtlCol="0">
            <a:spAutoFit/>
          </a:bodyPr>
          <a:lstStyle/>
          <a:p>
            <a:pPr marL="12700" algn="ctr">
              <a:lnSpc>
                <a:spcPct val="100000"/>
              </a:lnSpc>
              <a:spcBef>
                <a:spcPts val="100"/>
              </a:spcBef>
            </a:pPr>
            <a:r>
              <a:rPr lang="en-US" sz="8000" spc="375" dirty="0"/>
              <a:t>PROBLEM</a:t>
            </a:r>
            <a:r>
              <a:rPr lang="en-US" sz="8000" spc="-130" dirty="0"/>
              <a:t> </a:t>
            </a:r>
            <a:r>
              <a:rPr lang="en-US" sz="8000" spc="320" dirty="0"/>
              <a:t>STATEMENT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3052989" y="647700"/>
            <a:ext cx="12115799" cy="1243930"/>
          </a:xfrm>
          <a:prstGeom prst="rect">
            <a:avLst/>
          </a:prstGeom>
        </p:spPr>
        <p:txBody>
          <a:bodyPr vert="horz" wrap="square" lIns="0" tIns="12700" rIns="0" bIns="0" rtlCol="0">
            <a:spAutoFit/>
          </a:bodyPr>
          <a:lstStyle/>
          <a:p>
            <a:pPr marL="12700" algn="ctr">
              <a:lnSpc>
                <a:spcPct val="100000"/>
              </a:lnSpc>
              <a:spcBef>
                <a:spcPts val="100"/>
              </a:spcBef>
            </a:pPr>
            <a:r>
              <a:rPr lang="en-IN" sz="8000" spc="375" dirty="0"/>
              <a:t>SCOPE OF PROJECT</a:t>
            </a:r>
            <a:endParaRPr sz="8000" spc="310" dirty="0"/>
          </a:p>
        </p:txBody>
      </p:sp>
      <p:sp>
        <p:nvSpPr>
          <p:cNvPr id="12" name="Rectangle 8">
            <a:extLst>
              <a:ext uri="{FF2B5EF4-FFF2-40B4-BE49-F238E27FC236}">
                <a16:creationId xmlns:a16="http://schemas.microsoft.com/office/drawing/2014/main" id="{E9884516-7265-CC5E-0310-8B4A9FCAC65B}"/>
              </a:ext>
            </a:extLst>
          </p:cNvPr>
          <p:cNvSpPr>
            <a:spLocks noChangeArrowheads="1"/>
          </p:cNvSpPr>
          <p:nvPr/>
        </p:nvSpPr>
        <p:spPr bwMode="auto">
          <a:xfrm>
            <a:off x="1524000" y="2933700"/>
            <a:ext cx="15697200" cy="5521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lang="en-US" sz="4000" dirty="0">
                <a:latin typeface="Times New Roman" panose="02020603050405020304" pitchFamily="18" charset="0"/>
                <a:cs typeface="Times New Roman" panose="02020603050405020304" pitchFamily="18" charset="0"/>
              </a:rPr>
              <a:t>The project focuses on detecting visual deepfakes and basic spoofing attempts using deep learning. It includes simple liveness checks such as blinking, head movement, and texture cues. The system works only with video and image inputs and supports real-time analysis. Its accuracy depends on input quality and may not detect highly sophisticated deepfakes. It is not intended for high-security applications</a:t>
            </a:r>
            <a:r>
              <a:rPr lang="en-US" sz="4000" dirty="0"/>
              <a:t>.</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10558" y="623680"/>
            <a:ext cx="16611600" cy="956310"/>
          </a:xfrm>
          <a:prstGeom prst="rect">
            <a:avLst/>
          </a:prstGeom>
        </p:spPr>
        <p:txBody>
          <a:bodyPr vert="horz" wrap="square" lIns="0" tIns="16510" rIns="0" bIns="0" rtlCol="0">
            <a:noAutofit/>
          </a:bodyPr>
          <a:lstStyle/>
          <a:p>
            <a:pPr marL="12700" algn="ctr">
              <a:lnSpc>
                <a:spcPct val="100000"/>
              </a:lnSpc>
              <a:spcBef>
                <a:spcPts val="130"/>
              </a:spcBef>
            </a:pPr>
            <a:r>
              <a:rPr lang="en-US" altLang="en-GB" sz="8000" b="1" dirty="0">
                <a:latin typeface="Times New Roman" panose="02020603050405020304" pitchFamily="18" charset="0"/>
                <a:cs typeface="Times New Roman" panose="02020603050405020304" pitchFamily="18" charset="0"/>
              </a:rPr>
              <a:t>SOFTWARE  REQUIREMENTS</a:t>
            </a:r>
            <a:endParaRPr lang="en-US" altLang="en-GB" sz="8000" b="1" dirty="0">
              <a:latin typeface="Times New Roman" panose="02020603050405020304" pitchFamily="18" charset="0"/>
              <a:cs typeface="Times New Roman" panose="02020603050405020304" pitchFamily="18" charset="0"/>
              <a:sym typeface="+mn-ea"/>
            </a:endParaRPr>
          </a:p>
          <a:p>
            <a:pPr marL="12700" algn="ctr">
              <a:lnSpc>
                <a:spcPct val="100000"/>
              </a:lnSpc>
              <a:spcBef>
                <a:spcPts val="130"/>
              </a:spcBef>
            </a:pPr>
            <a:endParaRPr lang="en-US" sz="8000" b="1"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C41F2DBA-FC03-ACDE-4689-6FF67BD61115}"/>
              </a:ext>
            </a:extLst>
          </p:cNvPr>
          <p:cNvGraphicFramePr>
            <a:graphicFrameLocks noGrp="1"/>
          </p:cNvGraphicFramePr>
          <p:nvPr>
            <p:extLst>
              <p:ext uri="{D42A27DB-BD31-4B8C-83A1-F6EECF244321}">
                <p14:modId xmlns:p14="http://schemas.microsoft.com/office/powerpoint/2010/main" val="1815841462"/>
              </p:ext>
            </p:extLst>
          </p:nvPr>
        </p:nvGraphicFramePr>
        <p:xfrm>
          <a:off x="2895600" y="3390900"/>
          <a:ext cx="12192000" cy="5715000"/>
        </p:xfrm>
        <a:graphic>
          <a:graphicData uri="http://schemas.openxmlformats.org/drawingml/2006/table">
            <a:tbl>
              <a:tblPr firstRow="1" bandRow="1">
                <a:tableStyleId>{5940675A-B579-460E-94D1-54222C63F5DA}</a:tableStyleId>
              </a:tblPr>
              <a:tblGrid>
                <a:gridCol w="6096000">
                  <a:extLst>
                    <a:ext uri="{9D8B030D-6E8A-4147-A177-3AD203B41FA5}">
                      <a16:colId xmlns:a16="http://schemas.microsoft.com/office/drawing/2014/main" val="3754544745"/>
                    </a:ext>
                  </a:extLst>
                </a:gridCol>
                <a:gridCol w="6096000">
                  <a:extLst>
                    <a:ext uri="{9D8B030D-6E8A-4147-A177-3AD203B41FA5}">
                      <a16:colId xmlns:a16="http://schemas.microsoft.com/office/drawing/2014/main" val="1152310834"/>
                    </a:ext>
                  </a:extLst>
                </a:gridCol>
              </a:tblGrid>
              <a:tr h="952500">
                <a:tc>
                  <a:txBody>
                    <a:bodyPr/>
                    <a:lstStyle/>
                    <a:p>
                      <a:pPr algn="ctr"/>
                      <a:r>
                        <a:rPr lang="en-IN" sz="3600" dirty="0"/>
                        <a:t>OPERATING SYSYTEM</a:t>
                      </a:r>
                      <a:endParaRPr lang="en-US" sz="3600" dirty="0">
                        <a:latin typeface="Times New Roman" panose="02020603050405020304" pitchFamily="18" charset="0"/>
                        <a:cs typeface="Times New Roman" panose="02020603050405020304" pitchFamily="18" charset="0"/>
                      </a:endParaRPr>
                    </a:p>
                  </a:txBody>
                  <a:tcPr/>
                </a:tc>
                <a:tc>
                  <a:txBody>
                    <a:bodyPr/>
                    <a:lstStyle/>
                    <a:p>
                      <a:pPr algn="ctr"/>
                      <a:r>
                        <a:rPr lang="en-IN" sz="3600" dirty="0"/>
                        <a:t>WINDOWS 11</a:t>
                      </a:r>
                      <a:endParaRPr lang="en-US" sz="3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0962833"/>
                  </a:ext>
                </a:extLst>
              </a:tr>
              <a:tr h="952500">
                <a:tc>
                  <a:txBody>
                    <a:bodyPr/>
                    <a:lstStyle/>
                    <a:p>
                      <a:pPr algn="ctr"/>
                      <a:r>
                        <a:rPr lang="en-IN" sz="3600" dirty="0"/>
                        <a:t>FRONTEND</a:t>
                      </a:r>
                      <a:endParaRPr lang="en-US" sz="3600" dirty="0">
                        <a:latin typeface="Times New Roman" panose="02020603050405020304" pitchFamily="18" charset="0"/>
                        <a:cs typeface="Times New Roman" panose="02020603050405020304" pitchFamily="18" charset="0"/>
                      </a:endParaRPr>
                    </a:p>
                  </a:txBody>
                  <a:tcPr/>
                </a:tc>
                <a:tc>
                  <a:txBody>
                    <a:bodyPr/>
                    <a:lstStyle/>
                    <a:p>
                      <a:pPr algn="ctr"/>
                      <a:r>
                        <a:rPr lang="en-IN" sz="3600" dirty="0"/>
                        <a:t>HTML, CSS</a:t>
                      </a:r>
                      <a:endParaRPr lang="en-US" sz="3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01553466"/>
                  </a:ext>
                </a:extLst>
              </a:tr>
              <a:tr h="952500">
                <a:tc>
                  <a:txBody>
                    <a:bodyPr/>
                    <a:lstStyle/>
                    <a:p>
                      <a:pPr algn="ctr"/>
                      <a:r>
                        <a:rPr lang="en-IN" sz="3600" dirty="0"/>
                        <a:t>BACKEND</a:t>
                      </a:r>
                      <a:endParaRPr lang="en-US" sz="3600" dirty="0">
                        <a:latin typeface="Times New Roman" panose="02020603050405020304" pitchFamily="18" charset="0"/>
                        <a:cs typeface="Times New Roman" panose="02020603050405020304" pitchFamily="18" charset="0"/>
                      </a:endParaRPr>
                    </a:p>
                  </a:txBody>
                  <a:tcPr/>
                </a:tc>
                <a:tc>
                  <a:txBody>
                    <a:bodyPr/>
                    <a:lstStyle/>
                    <a:p>
                      <a:pPr algn="ctr"/>
                      <a:r>
                        <a:rPr lang="en-IN" sz="3600" dirty="0"/>
                        <a:t>FLASK,PYTHON</a:t>
                      </a:r>
                      <a:endParaRPr lang="en-US" sz="3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04221878"/>
                  </a:ext>
                </a:extLst>
              </a:tr>
              <a:tr h="952500">
                <a:tc>
                  <a:txBody>
                    <a:bodyPr/>
                    <a:lstStyle/>
                    <a:p>
                      <a:pPr algn="ctr"/>
                      <a:r>
                        <a:rPr lang="en-IN" sz="3600" dirty="0"/>
                        <a:t>LIBRARIES</a:t>
                      </a:r>
                      <a:endParaRPr lang="en-US" sz="3600" dirty="0">
                        <a:latin typeface="Times New Roman" panose="02020603050405020304" pitchFamily="18" charset="0"/>
                        <a:cs typeface="Times New Roman" panose="02020603050405020304" pitchFamily="18" charset="0"/>
                      </a:endParaRPr>
                    </a:p>
                  </a:txBody>
                  <a:tcPr/>
                </a:tc>
                <a:tc>
                  <a:txBody>
                    <a:bodyPr/>
                    <a:lstStyle/>
                    <a:p>
                      <a:pPr algn="ctr"/>
                      <a:r>
                        <a:rPr lang="en-IN" sz="3600" dirty="0"/>
                        <a:t>TENSORFLOW, NumPy</a:t>
                      </a:r>
                      <a:endParaRPr lang="en-US" sz="3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86060465"/>
                  </a:ext>
                </a:extLst>
              </a:tr>
              <a:tr h="952500">
                <a:tc>
                  <a:txBody>
                    <a:bodyPr/>
                    <a:lstStyle/>
                    <a:p>
                      <a:pPr algn="ctr"/>
                      <a:r>
                        <a:rPr lang="en-IN" sz="3600" dirty="0"/>
                        <a:t>IDE</a:t>
                      </a:r>
                      <a:endParaRPr lang="en-US" sz="3600" dirty="0">
                        <a:latin typeface="Times New Roman" panose="02020603050405020304" pitchFamily="18" charset="0"/>
                        <a:cs typeface="Times New Roman" panose="02020603050405020304" pitchFamily="18" charset="0"/>
                      </a:endParaRPr>
                    </a:p>
                  </a:txBody>
                  <a:tcPr/>
                </a:tc>
                <a:tc>
                  <a:txBody>
                    <a:bodyPr/>
                    <a:lstStyle/>
                    <a:p>
                      <a:pPr algn="ctr"/>
                      <a:r>
                        <a:rPr lang="en-IN" sz="3600" dirty="0"/>
                        <a:t>VISUAL STUDIO</a:t>
                      </a:r>
                      <a:endParaRPr lang="en-US" sz="3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81946408"/>
                  </a:ext>
                </a:extLst>
              </a:tr>
              <a:tr h="952500">
                <a:tc>
                  <a:txBody>
                    <a:bodyPr/>
                    <a:lstStyle/>
                    <a:p>
                      <a:pPr algn="ctr"/>
                      <a:r>
                        <a:rPr lang="en-IN" sz="3600" dirty="0"/>
                        <a:t>WEB BROWSER</a:t>
                      </a:r>
                      <a:endParaRPr lang="en-US" sz="3600" dirty="0">
                        <a:latin typeface="Times New Roman" panose="02020603050405020304" pitchFamily="18" charset="0"/>
                        <a:cs typeface="Times New Roman" panose="02020603050405020304" pitchFamily="18" charset="0"/>
                      </a:endParaRPr>
                    </a:p>
                  </a:txBody>
                  <a:tcPr/>
                </a:tc>
                <a:tc>
                  <a:txBody>
                    <a:bodyPr/>
                    <a:lstStyle/>
                    <a:p>
                      <a:pPr algn="ctr"/>
                      <a:r>
                        <a:rPr lang="en-IN" sz="3600" dirty="0"/>
                        <a:t>CHROME</a:t>
                      </a:r>
                      <a:endParaRPr lang="en-US" sz="3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01103280"/>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304800" y="723900"/>
            <a:ext cx="17754600" cy="956310"/>
          </a:xfrm>
          <a:prstGeom prst="rect">
            <a:avLst/>
          </a:prstGeom>
        </p:spPr>
        <p:txBody>
          <a:bodyPr vert="horz" wrap="square" lIns="0" tIns="16510" rIns="0" bIns="0" rtlCol="0">
            <a:noAutofit/>
          </a:bodyPr>
          <a:lstStyle/>
          <a:p>
            <a:pPr marL="12700" algn="ctr">
              <a:lnSpc>
                <a:spcPct val="100000"/>
              </a:lnSpc>
              <a:spcBef>
                <a:spcPts val="130"/>
              </a:spcBef>
            </a:pPr>
            <a:r>
              <a:rPr lang="en-US" altLang="en-GB" sz="8000" b="1" dirty="0">
                <a:latin typeface="Times New Roman" panose="02020603050405020304" pitchFamily="18" charset="0"/>
                <a:cs typeface="Times New Roman" panose="02020603050405020304" pitchFamily="18" charset="0"/>
              </a:rPr>
              <a:t> HARDWARE REQUIREMENTS</a:t>
            </a:r>
          </a:p>
          <a:p>
            <a:pPr marL="12700" algn="ctr">
              <a:lnSpc>
                <a:spcPct val="100000"/>
              </a:lnSpc>
              <a:spcBef>
                <a:spcPts val="130"/>
              </a:spcBef>
            </a:pPr>
            <a:endParaRPr lang="en-US" sz="8000" b="1"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11926673-0153-023F-516C-AD7CD3FB1E91}"/>
              </a:ext>
            </a:extLst>
          </p:cNvPr>
          <p:cNvGraphicFramePr>
            <a:graphicFrameLocks noGrp="1"/>
          </p:cNvGraphicFramePr>
          <p:nvPr>
            <p:extLst>
              <p:ext uri="{D42A27DB-BD31-4B8C-83A1-F6EECF244321}">
                <p14:modId xmlns:p14="http://schemas.microsoft.com/office/powerpoint/2010/main" val="14955164"/>
              </p:ext>
            </p:extLst>
          </p:nvPr>
        </p:nvGraphicFramePr>
        <p:xfrm>
          <a:off x="2743200" y="4030980"/>
          <a:ext cx="12192000" cy="4541520"/>
        </p:xfrm>
        <a:graphic>
          <a:graphicData uri="http://schemas.openxmlformats.org/drawingml/2006/table">
            <a:tbl>
              <a:tblPr firstRow="1" bandRow="1">
                <a:tableStyleId>{5940675A-B579-460E-94D1-54222C63F5DA}</a:tableStyleId>
              </a:tblPr>
              <a:tblGrid>
                <a:gridCol w="6096000">
                  <a:extLst>
                    <a:ext uri="{9D8B030D-6E8A-4147-A177-3AD203B41FA5}">
                      <a16:colId xmlns:a16="http://schemas.microsoft.com/office/drawing/2014/main" val="1960234309"/>
                    </a:ext>
                  </a:extLst>
                </a:gridCol>
                <a:gridCol w="6096000">
                  <a:extLst>
                    <a:ext uri="{9D8B030D-6E8A-4147-A177-3AD203B41FA5}">
                      <a16:colId xmlns:a16="http://schemas.microsoft.com/office/drawing/2014/main" val="4188366450"/>
                    </a:ext>
                  </a:extLst>
                </a:gridCol>
              </a:tblGrid>
              <a:tr h="756920">
                <a:tc>
                  <a:txBody>
                    <a:bodyPr/>
                    <a:lstStyle/>
                    <a:p>
                      <a:pPr algn="ctr"/>
                      <a:r>
                        <a:rPr lang="en-IN" sz="3600" dirty="0"/>
                        <a:t>PROCESSOR(CPU)</a:t>
                      </a:r>
                      <a:endParaRPr lang="en-US" sz="3600" dirty="0">
                        <a:latin typeface="Times New Roman" panose="02020603050405020304" pitchFamily="18" charset="0"/>
                        <a:cs typeface="Times New Roman" panose="02020603050405020304" pitchFamily="18" charset="0"/>
                      </a:endParaRPr>
                    </a:p>
                  </a:txBody>
                  <a:tcPr/>
                </a:tc>
                <a:tc>
                  <a:txBody>
                    <a:bodyPr/>
                    <a:lstStyle/>
                    <a:p>
                      <a:pPr algn="ctr"/>
                      <a:r>
                        <a:rPr lang="en-IN" sz="3600" dirty="0"/>
                        <a:t>INTEL i5</a:t>
                      </a:r>
                      <a:endParaRPr lang="en-US" sz="3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6878083"/>
                  </a:ext>
                </a:extLst>
              </a:tr>
              <a:tr h="756920">
                <a:tc>
                  <a:txBody>
                    <a:bodyPr/>
                    <a:lstStyle/>
                    <a:p>
                      <a:pPr algn="ctr"/>
                      <a:r>
                        <a:rPr lang="en-IN" sz="3600" dirty="0"/>
                        <a:t>RAM</a:t>
                      </a:r>
                      <a:endParaRPr lang="en-US" sz="3600" dirty="0">
                        <a:latin typeface="Times New Roman" panose="02020603050405020304" pitchFamily="18" charset="0"/>
                        <a:cs typeface="Times New Roman" panose="02020603050405020304" pitchFamily="18" charset="0"/>
                      </a:endParaRPr>
                    </a:p>
                  </a:txBody>
                  <a:tcPr/>
                </a:tc>
                <a:tc>
                  <a:txBody>
                    <a:bodyPr/>
                    <a:lstStyle/>
                    <a:p>
                      <a:pPr algn="ctr"/>
                      <a:r>
                        <a:rPr lang="en-IN" sz="3600" dirty="0"/>
                        <a:t>8GB</a:t>
                      </a:r>
                      <a:endParaRPr lang="en-US" sz="3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27331250"/>
                  </a:ext>
                </a:extLst>
              </a:tr>
              <a:tr h="756920">
                <a:tc>
                  <a:txBody>
                    <a:bodyPr/>
                    <a:lstStyle/>
                    <a:p>
                      <a:pPr algn="ctr"/>
                      <a:r>
                        <a:rPr lang="en-IN" sz="3600" dirty="0"/>
                        <a:t>GRAPHICS CARD</a:t>
                      </a:r>
                      <a:endParaRPr lang="en-US" sz="3600" dirty="0">
                        <a:latin typeface="Times New Roman" panose="02020603050405020304" pitchFamily="18" charset="0"/>
                        <a:cs typeface="Times New Roman" panose="02020603050405020304" pitchFamily="18" charset="0"/>
                      </a:endParaRPr>
                    </a:p>
                  </a:txBody>
                  <a:tcPr/>
                </a:tc>
                <a:tc>
                  <a:txBody>
                    <a:bodyPr/>
                    <a:lstStyle/>
                    <a:p>
                      <a:pPr algn="ctr"/>
                      <a:r>
                        <a:rPr lang="en-IN" sz="3600" dirty="0"/>
                        <a:t>Integrated GPU</a:t>
                      </a:r>
                      <a:endParaRPr lang="en-US" sz="3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39809779"/>
                  </a:ext>
                </a:extLst>
              </a:tr>
              <a:tr h="756920">
                <a:tc>
                  <a:txBody>
                    <a:bodyPr/>
                    <a:lstStyle/>
                    <a:p>
                      <a:pPr algn="ctr"/>
                      <a:r>
                        <a:rPr lang="en-IN" sz="3600" dirty="0"/>
                        <a:t>STORAGE</a:t>
                      </a:r>
                      <a:endParaRPr lang="en-US" sz="3600" dirty="0">
                        <a:latin typeface="Times New Roman" panose="02020603050405020304" pitchFamily="18" charset="0"/>
                        <a:cs typeface="Times New Roman" panose="02020603050405020304" pitchFamily="18" charset="0"/>
                      </a:endParaRPr>
                    </a:p>
                  </a:txBody>
                  <a:tcPr/>
                </a:tc>
                <a:tc>
                  <a:txBody>
                    <a:bodyPr/>
                    <a:lstStyle/>
                    <a:p>
                      <a:pPr algn="ctr"/>
                      <a:r>
                        <a:rPr lang="en-IN" sz="3600" dirty="0"/>
                        <a:t>512 GB SSD</a:t>
                      </a:r>
                      <a:endParaRPr lang="en-US" sz="3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39777234"/>
                  </a:ext>
                </a:extLst>
              </a:tr>
              <a:tr h="756920">
                <a:tc>
                  <a:txBody>
                    <a:bodyPr/>
                    <a:lstStyle/>
                    <a:p>
                      <a:pPr algn="ctr"/>
                      <a:r>
                        <a:rPr lang="en-IN" sz="3600" dirty="0"/>
                        <a:t>DISPLAY</a:t>
                      </a:r>
                      <a:endParaRPr lang="en-US" sz="3600" dirty="0">
                        <a:latin typeface="Times New Roman" panose="02020603050405020304" pitchFamily="18" charset="0"/>
                        <a:cs typeface="Times New Roman" panose="02020603050405020304" pitchFamily="18" charset="0"/>
                      </a:endParaRPr>
                    </a:p>
                  </a:txBody>
                  <a:tcPr/>
                </a:tc>
                <a:tc>
                  <a:txBody>
                    <a:bodyPr/>
                    <a:lstStyle/>
                    <a:p>
                      <a:pPr algn="ctr"/>
                      <a:r>
                        <a:rPr lang="en-US" sz="3600" dirty="0">
                          <a:latin typeface="Times New Roman" panose="02020603050405020304" pitchFamily="18" charset="0"/>
                          <a:cs typeface="Times New Roman" panose="02020603050405020304" pitchFamily="18" charset="0"/>
                        </a:rPr>
                        <a:t>720p-1080p</a:t>
                      </a:r>
                    </a:p>
                  </a:txBody>
                  <a:tcPr/>
                </a:tc>
                <a:extLst>
                  <a:ext uri="{0D108BD9-81ED-4DB2-BD59-A6C34878D82A}">
                    <a16:rowId xmlns:a16="http://schemas.microsoft.com/office/drawing/2014/main" val="2645533035"/>
                  </a:ext>
                </a:extLst>
              </a:tr>
              <a:tr h="756920">
                <a:tc>
                  <a:txBody>
                    <a:bodyPr/>
                    <a:lstStyle/>
                    <a:p>
                      <a:pPr algn="ctr"/>
                      <a:r>
                        <a:rPr lang="en-IN" sz="3600" dirty="0"/>
                        <a:t>INTERNET</a:t>
                      </a:r>
                      <a:endParaRPr lang="en-US" sz="3600" dirty="0">
                        <a:latin typeface="Times New Roman" panose="02020603050405020304" pitchFamily="18" charset="0"/>
                        <a:cs typeface="Times New Roman" panose="02020603050405020304" pitchFamily="18" charset="0"/>
                      </a:endParaRPr>
                    </a:p>
                  </a:txBody>
                  <a:tcPr/>
                </a:tc>
                <a:tc>
                  <a:txBody>
                    <a:bodyPr/>
                    <a:lstStyle/>
                    <a:p>
                      <a:pPr algn="ctr"/>
                      <a:r>
                        <a:rPr lang="en-IN" sz="3600" dirty="0"/>
                        <a:t>real-time detection</a:t>
                      </a:r>
                      <a:endParaRPr lang="en-US" sz="3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33278038"/>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62000" y="449005"/>
            <a:ext cx="16687800" cy="1243930"/>
          </a:xfrm>
          <a:prstGeom prst="rect">
            <a:avLst/>
          </a:prstGeom>
        </p:spPr>
        <p:txBody>
          <a:bodyPr vert="horz" wrap="square" lIns="0" tIns="12700" rIns="0" bIns="0" rtlCol="0">
            <a:spAutoFit/>
          </a:bodyPr>
          <a:lstStyle/>
          <a:p>
            <a:pPr marL="12700" algn="ctr">
              <a:lnSpc>
                <a:spcPct val="100000"/>
              </a:lnSpc>
              <a:spcBef>
                <a:spcPts val="100"/>
              </a:spcBef>
            </a:pPr>
            <a:r>
              <a:rPr lang="en-US" altLang="en-GB" sz="8000" spc="390" dirty="0"/>
              <a:t>DESCRIPTION OF MODULES</a:t>
            </a:r>
          </a:p>
        </p:txBody>
      </p:sp>
      <p:sp>
        <p:nvSpPr>
          <p:cNvPr id="9" name="object 9"/>
          <p:cNvSpPr txBox="1"/>
          <p:nvPr/>
        </p:nvSpPr>
        <p:spPr>
          <a:xfrm>
            <a:off x="567290" y="2727679"/>
            <a:ext cx="17111110" cy="4831642"/>
          </a:xfrm>
          <a:prstGeom prst="rect">
            <a:avLst/>
          </a:prstGeom>
        </p:spPr>
        <p:txBody>
          <a:bodyPr vert="horz" wrap="square" lIns="0" tIns="12700" rIns="0" bIns="0" rtlCol="0">
            <a:noAutofit/>
          </a:bodyPr>
          <a:lstStyle/>
          <a:p>
            <a:pPr marR="26670" algn="l">
              <a:lnSpc>
                <a:spcPct val="100000"/>
              </a:lnSpc>
              <a:spcBef>
                <a:spcPts val="100"/>
              </a:spcBef>
            </a:pPr>
            <a:endParaRPr lang="en-US" altLang="en-GB" sz="4000" dirty="0">
              <a:latin typeface="Times New Roman" panose="02020603050405020304" pitchFamily="18" charset="0"/>
              <a:cs typeface="Times New Roman" panose="02020603050405020304" pitchFamily="18" charset="0"/>
            </a:endParaRPr>
          </a:p>
          <a:p>
            <a:pPr marL="571500" marR="26670" indent="-571500" algn="l">
              <a:spcBef>
                <a:spcPts val="100"/>
              </a:spcBef>
              <a:buFont typeface="Arial" panose="020B0604020202020204" pitchFamily="34" charset="0"/>
              <a:buChar char="•"/>
            </a:pPr>
            <a:r>
              <a:rPr lang="en-US" altLang="en-GB" sz="4000" b="1" dirty="0">
                <a:latin typeface="Times New Roman" panose="02020603050405020304" pitchFamily="18" charset="0"/>
                <a:cs typeface="Times New Roman" panose="02020603050405020304" pitchFamily="18" charset="0"/>
              </a:rPr>
              <a:t>Data collection and Preprocessing Module</a:t>
            </a:r>
            <a:r>
              <a:rPr lang="en-US" altLang="en-GB" sz="4000" dirty="0">
                <a:latin typeface="Times New Roman" panose="02020603050405020304" pitchFamily="18" charset="0"/>
                <a:cs typeface="Times New Roman" panose="02020603050405020304" pitchFamily="18" charset="0"/>
              </a:rPr>
              <a:t>: </a:t>
            </a:r>
            <a:r>
              <a:rPr lang="en-US" sz="4000" dirty="0">
                <a:latin typeface="Times New Roman" panose="02020603050405020304" pitchFamily="18" charset="0"/>
                <a:cs typeface="Times New Roman" panose="02020603050405020304" pitchFamily="18" charset="0"/>
              </a:rPr>
              <a:t>Collects real and fake videos, extracts frames, detects faces, and applies resizing and normalization to prepare data for training.</a:t>
            </a:r>
          </a:p>
          <a:p>
            <a:pPr marR="26670" algn="l">
              <a:lnSpc>
                <a:spcPct val="100000"/>
              </a:lnSpc>
              <a:spcBef>
                <a:spcPts val="100"/>
              </a:spcBef>
            </a:pPr>
            <a:endParaRPr lang="en-US" altLang="en-GB" sz="4000" dirty="0">
              <a:latin typeface="Times New Roman" panose="02020603050405020304" pitchFamily="18" charset="0"/>
              <a:cs typeface="Times New Roman" panose="02020603050405020304" pitchFamily="18" charset="0"/>
            </a:endParaRPr>
          </a:p>
          <a:p>
            <a:pPr marL="571500" marR="26670" indent="-571500" algn="l">
              <a:lnSpc>
                <a:spcPct val="100000"/>
              </a:lnSpc>
              <a:spcBef>
                <a:spcPts val="100"/>
              </a:spcBef>
              <a:buFont typeface="Arial" panose="020B0604020202020204" pitchFamily="34" charset="0"/>
              <a:buChar char="•"/>
            </a:pPr>
            <a:r>
              <a:rPr lang="en-US" altLang="en-GB" sz="4000" b="1" dirty="0">
                <a:latin typeface="Times New Roman" panose="02020603050405020304" pitchFamily="18" charset="0"/>
                <a:cs typeface="Times New Roman" panose="02020603050405020304" pitchFamily="18" charset="0"/>
              </a:rPr>
              <a:t>Deepfake  and Liveness detection module</a:t>
            </a:r>
            <a:r>
              <a:rPr lang="en-US" altLang="en-GB" sz="4000" dirty="0">
                <a:latin typeface="Times New Roman" panose="02020603050405020304" pitchFamily="18" charset="0"/>
                <a:cs typeface="Times New Roman" panose="02020603050405020304" pitchFamily="18" charset="0"/>
              </a:rPr>
              <a:t>: </a:t>
            </a:r>
            <a:r>
              <a:rPr lang="en-US" sz="4000" dirty="0">
                <a:latin typeface="Times New Roman" panose="02020603050405020304" pitchFamily="18" charset="0"/>
                <a:cs typeface="Times New Roman" panose="02020603050405020304" pitchFamily="18" charset="0"/>
              </a:rPr>
              <a:t>Uses AI to detect visual artifacts and fake patterns. Liveness check ensures the input is from a real person, not synthetic media.</a:t>
            </a:r>
            <a:endParaRPr lang="en-US" altLang="en-GB" sz="4000" dirty="0">
              <a:latin typeface="Times New Roman" panose="02020603050405020304" pitchFamily="18" charset="0"/>
              <a:cs typeface="Times New Roman" panose="02020603050405020304" pitchFamily="18" charset="0"/>
            </a:endParaRPr>
          </a:p>
          <a:p>
            <a:pPr marR="26670" algn="l">
              <a:lnSpc>
                <a:spcPct val="100000"/>
              </a:lnSpc>
              <a:spcBef>
                <a:spcPts val="100"/>
              </a:spcBef>
            </a:pPr>
            <a:endParaRPr lang="en-US" altLang="en-GB" sz="4000" dirty="0">
              <a:latin typeface="Times New Roman" panose="02020603050405020304" pitchFamily="18" charset="0"/>
              <a:cs typeface="Times New Roman" panose="02020603050405020304" pitchFamily="18" charset="0"/>
            </a:endParaRPr>
          </a:p>
          <a:p>
            <a:pPr marR="26670" algn="l">
              <a:lnSpc>
                <a:spcPct val="100000"/>
              </a:lnSpc>
              <a:spcBef>
                <a:spcPts val="100"/>
              </a:spcBef>
            </a:pPr>
            <a:endParaRPr lang="en-US" altLang="en-GB" sz="4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D4F1D-F3AF-1318-FDD5-D7FCF41E1945}"/>
              </a:ext>
            </a:extLst>
          </p:cNvPr>
          <p:cNvSpPr>
            <a:spLocks noGrp="1"/>
          </p:cNvSpPr>
          <p:nvPr>
            <p:ph type="title"/>
          </p:nvPr>
        </p:nvSpPr>
        <p:spPr>
          <a:xfrm>
            <a:off x="990600" y="800101"/>
            <a:ext cx="16286018" cy="1477328"/>
          </a:xfrm>
        </p:spPr>
        <p:txBody>
          <a:bodyPr/>
          <a:lstStyle/>
          <a:p>
            <a:r>
              <a:rPr lang="en-US" sz="9600" dirty="0"/>
              <a:t>DATASET DISTRIBUTION:</a:t>
            </a:r>
            <a:endParaRPr lang="en-IN" dirty="0"/>
          </a:p>
        </p:txBody>
      </p:sp>
      <p:pic>
        <p:nvPicPr>
          <p:cNvPr id="5" name="Picture 4">
            <a:extLst>
              <a:ext uri="{FF2B5EF4-FFF2-40B4-BE49-F238E27FC236}">
                <a16:creationId xmlns:a16="http://schemas.microsoft.com/office/drawing/2014/main" id="{7F987EC3-573A-662B-7972-177F1A5414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2628900"/>
            <a:ext cx="16590818" cy="7086600"/>
          </a:xfrm>
          <a:prstGeom prst="rect">
            <a:avLst/>
          </a:prstGeom>
        </p:spPr>
      </p:pic>
    </p:spTree>
    <p:extLst>
      <p:ext uri="{BB962C8B-B14F-4D97-AF65-F5344CB8AC3E}">
        <p14:creationId xmlns:p14="http://schemas.microsoft.com/office/powerpoint/2010/main" val="230973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4CA53-8DA4-04EE-1D0E-03627FB15BBB}"/>
              </a:ext>
            </a:extLst>
          </p:cNvPr>
          <p:cNvSpPr>
            <a:spLocks noGrp="1"/>
          </p:cNvSpPr>
          <p:nvPr>
            <p:ph type="title"/>
          </p:nvPr>
        </p:nvSpPr>
        <p:spPr>
          <a:xfrm>
            <a:off x="609600" y="571500"/>
            <a:ext cx="11284656" cy="1524000"/>
          </a:xfrm>
        </p:spPr>
        <p:txBody>
          <a:bodyPr/>
          <a:lstStyle/>
          <a:p>
            <a:r>
              <a:rPr lang="en-US" dirty="0"/>
              <a:t>IMPLEMENTATION</a:t>
            </a:r>
            <a:endParaRPr lang="en-IN" dirty="0"/>
          </a:p>
        </p:txBody>
      </p:sp>
      <p:sp>
        <p:nvSpPr>
          <p:cNvPr id="13" name="TextBox 12">
            <a:extLst>
              <a:ext uri="{FF2B5EF4-FFF2-40B4-BE49-F238E27FC236}">
                <a16:creationId xmlns:a16="http://schemas.microsoft.com/office/drawing/2014/main" id="{B8D277DD-DAE7-EF66-7FEF-01ECDFB2C78F}"/>
              </a:ext>
            </a:extLst>
          </p:cNvPr>
          <p:cNvSpPr txBox="1"/>
          <p:nvPr/>
        </p:nvSpPr>
        <p:spPr>
          <a:xfrm>
            <a:off x="838200" y="2473973"/>
            <a:ext cx="14859000" cy="1815882"/>
          </a:xfrm>
          <a:prstGeom prst="rect">
            <a:avLst/>
          </a:prstGeom>
          <a:noFill/>
        </p:spPr>
        <p:txBody>
          <a:bodyPr wrap="square">
            <a:spAutoFit/>
          </a:bodyPr>
          <a:lstStyle/>
          <a:p>
            <a:pPr>
              <a:buNone/>
            </a:pPr>
            <a:r>
              <a:rPr lang="en-US" sz="2800" b="1" dirty="0"/>
              <a:t>Technical Architecture</a:t>
            </a:r>
          </a:p>
          <a:p>
            <a:pPr>
              <a:buNone/>
            </a:pPr>
            <a:r>
              <a:rPr lang="en-US" sz="2800" dirty="0" err="1"/>
              <a:t>DeepGuard</a:t>
            </a:r>
            <a:r>
              <a:rPr lang="en-US" sz="2800" dirty="0"/>
              <a:t> AI integrates deepfake detection and liveness analysis using a </a:t>
            </a:r>
            <a:r>
              <a:rPr lang="en-US" sz="2800" dirty="0" err="1"/>
              <a:t>MobileNet</a:t>
            </a:r>
            <a:r>
              <a:rPr lang="en-US" sz="2800" dirty="0"/>
              <a:t>-based deep learning model, deployed with a Flask web application for real-time image and video analysis.</a:t>
            </a:r>
          </a:p>
        </p:txBody>
      </p:sp>
      <p:sp>
        <p:nvSpPr>
          <p:cNvPr id="15" name="TextBox 14">
            <a:extLst>
              <a:ext uri="{FF2B5EF4-FFF2-40B4-BE49-F238E27FC236}">
                <a16:creationId xmlns:a16="http://schemas.microsoft.com/office/drawing/2014/main" id="{3F1EE4A9-A13F-B631-6BF1-9B2404F1D873}"/>
              </a:ext>
            </a:extLst>
          </p:cNvPr>
          <p:cNvSpPr txBox="1"/>
          <p:nvPr/>
        </p:nvSpPr>
        <p:spPr>
          <a:xfrm>
            <a:off x="742604" y="4889064"/>
            <a:ext cx="7848600" cy="2246769"/>
          </a:xfrm>
          <a:prstGeom prst="rect">
            <a:avLst/>
          </a:prstGeom>
          <a:noFill/>
        </p:spPr>
        <p:txBody>
          <a:bodyPr wrap="square">
            <a:spAutoFit/>
          </a:bodyPr>
          <a:lstStyle/>
          <a:p>
            <a:pPr>
              <a:buNone/>
            </a:pPr>
            <a:r>
              <a:rPr lang="en-IN" sz="2800" b="1" dirty="0"/>
              <a:t>Development Tools</a:t>
            </a:r>
          </a:p>
          <a:p>
            <a:pPr>
              <a:buFont typeface="Arial" panose="020B0604020202020204" pitchFamily="34" charset="0"/>
              <a:buChar char="•"/>
            </a:pPr>
            <a:r>
              <a:rPr lang="en-IN" sz="2800" dirty="0"/>
              <a:t>Python (TensorFlow/</a:t>
            </a:r>
            <a:r>
              <a:rPr lang="en-IN" sz="2800" dirty="0" err="1"/>
              <a:t>Keras</a:t>
            </a:r>
            <a:r>
              <a:rPr lang="en-IN" sz="2800" dirty="0"/>
              <a:t>, OpenCV, NumPy)</a:t>
            </a:r>
          </a:p>
          <a:p>
            <a:pPr>
              <a:buFont typeface="Arial" panose="020B0604020202020204" pitchFamily="34" charset="0"/>
              <a:buChar char="•"/>
            </a:pPr>
            <a:r>
              <a:rPr lang="en-IN" sz="2800" dirty="0"/>
              <a:t>MTCNN for face detection</a:t>
            </a:r>
          </a:p>
          <a:p>
            <a:pPr>
              <a:buFont typeface="Arial" panose="020B0604020202020204" pitchFamily="34" charset="0"/>
              <a:buChar char="•"/>
            </a:pPr>
            <a:r>
              <a:rPr lang="en-IN" sz="2800" dirty="0"/>
              <a:t>Flask backend + Bootstrap 5 UI</a:t>
            </a:r>
          </a:p>
          <a:p>
            <a:pPr>
              <a:buFont typeface="Arial" panose="020B0604020202020204" pitchFamily="34" charset="0"/>
              <a:buChar char="•"/>
            </a:pPr>
            <a:r>
              <a:rPr lang="en-IN" sz="2800" dirty="0"/>
              <a:t>Google Colab for model training</a:t>
            </a:r>
          </a:p>
        </p:txBody>
      </p:sp>
      <p:sp>
        <p:nvSpPr>
          <p:cNvPr id="19" name="TextBox 18">
            <a:extLst>
              <a:ext uri="{FF2B5EF4-FFF2-40B4-BE49-F238E27FC236}">
                <a16:creationId xmlns:a16="http://schemas.microsoft.com/office/drawing/2014/main" id="{A7518892-842E-C92A-3955-7E5F81426E64}"/>
              </a:ext>
            </a:extLst>
          </p:cNvPr>
          <p:cNvSpPr txBox="1"/>
          <p:nvPr/>
        </p:nvSpPr>
        <p:spPr>
          <a:xfrm>
            <a:off x="8915400" y="4825782"/>
            <a:ext cx="8382000" cy="2677656"/>
          </a:xfrm>
          <a:prstGeom prst="rect">
            <a:avLst/>
          </a:prstGeom>
          <a:noFill/>
        </p:spPr>
        <p:txBody>
          <a:bodyPr wrap="square">
            <a:spAutoFit/>
          </a:bodyPr>
          <a:lstStyle/>
          <a:p>
            <a:pPr>
              <a:buNone/>
            </a:pPr>
            <a:r>
              <a:rPr lang="en-US" sz="2800" b="1" dirty="0"/>
              <a:t>Workflow Process</a:t>
            </a:r>
          </a:p>
          <a:p>
            <a:pPr>
              <a:buFont typeface="Arial" panose="020B0604020202020204" pitchFamily="34" charset="0"/>
              <a:buChar char="•"/>
            </a:pPr>
            <a:r>
              <a:rPr lang="en-US" sz="2800" dirty="0"/>
              <a:t>Data preprocessing &amp; augmentation</a:t>
            </a:r>
          </a:p>
          <a:p>
            <a:pPr>
              <a:buFont typeface="Arial" panose="020B0604020202020204" pitchFamily="34" charset="0"/>
              <a:buChar char="•"/>
            </a:pPr>
            <a:r>
              <a:rPr lang="en-US" sz="2800" dirty="0"/>
              <a:t>Transfer learning using </a:t>
            </a:r>
            <a:r>
              <a:rPr lang="en-US" sz="2800" dirty="0" err="1"/>
              <a:t>MobileNet</a:t>
            </a:r>
            <a:endParaRPr lang="en-US" sz="2800" dirty="0"/>
          </a:p>
          <a:p>
            <a:pPr>
              <a:buFont typeface="Arial" panose="020B0604020202020204" pitchFamily="34" charset="0"/>
              <a:buChar char="•"/>
            </a:pPr>
            <a:r>
              <a:rPr lang="en-US" sz="2800" dirty="0"/>
              <a:t>Model fine-tuning &amp; evaluation</a:t>
            </a:r>
          </a:p>
          <a:p>
            <a:pPr>
              <a:buFont typeface="Arial" panose="020B0604020202020204" pitchFamily="34" charset="0"/>
              <a:buChar char="•"/>
            </a:pPr>
            <a:r>
              <a:rPr lang="en-US" sz="2800" dirty="0"/>
              <a:t>Real-time inference (image/video)</a:t>
            </a:r>
          </a:p>
          <a:p>
            <a:pPr>
              <a:buFont typeface="Arial" panose="020B0604020202020204" pitchFamily="34" charset="0"/>
              <a:buChar char="•"/>
            </a:pPr>
            <a:r>
              <a:rPr lang="en-US" sz="2800" dirty="0"/>
              <a:t>Confidence scoring and visual feedback</a:t>
            </a:r>
          </a:p>
        </p:txBody>
      </p:sp>
      <p:graphicFrame>
        <p:nvGraphicFramePr>
          <p:cNvPr id="20" name="Table 19">
            <a:extLst>
              <a:ext uri="{FF2B5EF4-FFF2-40B4-BE49-F238E27FC236}">
                <a16:creationId xmlns:a16="http://schemas.microsoft.com/office/drawing/2014/main" id="{7B09F43C-06E2-A914-E31F-22995EC62E35}"/>
              </a:ext>
            </a:extLst>
          </p:cNvPr>
          <p:cNvGraphicFramePr>
            <a:graphicFrameLocks noGrp="1"/>
          </p:cNvGraphicFramePr>
          <p:nvPr>
            <p:extLst>
              <p:ext uri="{D42A27DB-BD31-4B8C-83A1-F6EECF244321}">
                <p14:modId xmlns:p14="http://schemas.microsoft.com/office/powerpoint/2010/main" val="2283831331"/>
              </p:ext>
            </p:extLst>
          </p:nvPr>
        </p:nvGraphicFramePr>
        <p:xfrm>
          <a:off x="1118394" y="7986269"/>
          <a:ext cx="16051212" cy="1463040"/>
        </p:xfrm>
        <a:graphic>
          <a:graphicData uri="http://schemas.openxmlformats.org/drawingml/2006/table">
            <a:tbl>
              <a:tblPr>
                <a:tableStyleId>{616DA210-FB5B-4158-B5E0-FEB733F419BA}</a:tableStyleId>
              </a:tblPr>
              <a:tblGrid>
                <a:gridCol w="5350404">
                  <a:extLst>
                    <a:ext uri="{9D8B030D-6E8A-4147-A177-3AD203B41FA5}">
                      <a16:colId xmlns:a16="http://schemas.microsoft.com/office/drawing/2014/main" val="3017075529"/>
                    </a:ext>
                  </a:extLst>
                </a:gridCol>
                <a:gridCol w="5350404">
                  <a:extLst>
                    <a:ext uri="{9D8B030D-6E8A-4147-A177-3AD203B41FA5}">
                      <a16:colId xmlns:a16="http://schemas.microsoft.com/office/drawing/2014/main" val="3419753642"/>
                    </a:ext>
                  </a:extLst>
                </a:gridCol>
                <a:gridCol w="5350404">
                  <a:extLst>
                    <a:ext uri="{9D8B030D-6E8A-4147-A177-3AD203B41FA5}">
                      <a16:colId xmlns:a16="http://schemas.microsoft.com/office/drawing/2014/main" val="2130083980"/>
                    </a:ext>
                  </a:extLst>
                </a:gridCol>
              </a:tblGrid>
              <a:tr h="0">
                <a:tc>
                  <a:txBody>
                    <a:bodyPr/>
                    <a:lstStyle/>
                    <a:p>
                      <a:pPr>
                        <a:buNone/>
                      </a:pPr>
                      <a:r>
                        <a:rPr lang="en-IN" sz="2800" b="1"/>
                        <a:t>Algorithm</a:t>
                      </a:r>
                      <a:endParaRPr lang="en-IN" sz="2800"/>
                    </a:p>
                  </a:txBody>
                  <a:tcPr anchor="ctr"/>
                </a:tc>
                <a:tc>
                  <a:txBody>
                    <a:bodyPr/>
                    <a:lstStyle/>
                    <a:p>
                      <a:pPr>
                        <a:buNone/>
                      </a:pPr>
                      <a:r>
                        <a:rPr lang="en-IN" sz="2800" b="1"/>
                        <a:t>Dataset</a:t>
                      </a:r>
                      <a:endParaRPr lang="en-IN" sz="2800"/>
                    </a:p>
                  </a:txBody>
                  <a:tcPr anchor="ctr"/>
                </a:tc>
                <a:tc>
                  <a:txBody>
                    <a:bodyPr/>
                    <a:lstStyle/>
                    <a:p>
                      <a:pPr>
                        <a:buNone/>
                      </a:pPr>
                      <a:r>
                        <a:rPr lang="en-IN" sz="2800" b="1"/>
                        <a:t>Metrics</a:t>
                      </a:r>
                      <a:endParaRPr lang="en-IN" sz="2800"/>
                    </a:p>
                  </a:txBody>
                  <a:tcPr anchor="ctr"/>
                </a:tc>
                <a:extLst>
                  <a:ext uri="{0D108BD9-81ED-4DB2-BD59-A6C34878D82A}">
                    <a16:rowId xmlns:a16="http://schemas.microsoft.com/office/drawing/2014/main" val="1390419922"/>
                  </a:ext>
                </a:extLst>
              </a:tr>
              <a:tr h="0">
                <a:tc>
                  <a:txBody>
                    <a:bodyPr/>
                    <a:lstStyle/>
                    <a:p>
                      <a:pPr>
                        <a:buNone/>
                      </a:pPr>
                      <a:r>
                        <a:rPr lang="en-IN" sz="2800" dirty="0" err="1"/>
                        <a:t>MobileNet</a:t>
                      </a:r>
                      <a:r>
                        <a:rPr lang="en-IN" sz="2800" dirty="0"/>
                        <a:t> + Liveness Detection</a:t>
                      </a:r>
                    </a:p>
                  </a:txBody>
                  <a:tcPr anchor="ctr"/>
                </a:tc>
                <a:tc>
                  <a:txBody>
                    <a:bodyPr/>
                    <a:lstStyle/>
                    <a:p>
                      <a:pPr>
                        <a:buNone/>
                      </a:pPr>
                      <a:r>
                        <a:rPr lang="en-US" sz="2800" dirty="0"/>
                        <a:t>Real vs Fake + Spoof samples</a:t>
                      </a:r>
                    </a:p>
                  </a:txBody>
                  <a:tcPr anchor="ctr"/>
                </a:tc>
                <a:tc>
                  <a:txBody>
                    <a:bodyPr/>
                    <a:lstStyle/>
                    <a:p>
                      <a:pPr>
                        <a:buNone/>
                      </a:pPr>
                      <a:r>
                        <a:rPr lang="en-US" sz="2800" dirty="0"/>
                        <a:t>Accuracy (97%), Confidence Score, FPS</a:t>
                      </a:r>
                    </a:p>
                  </a:txBody>
                  <a:tcPr anchor="ctr"/>
                </a:tc>
                <a:extLst>
                  <a:ext uri="{0D108BD9-81ED-4DB2-BD59-A6C34878D82A}">
                    <a16:rowId xmlns:a16="http://schemas.microsoft.com/office/drawing/2014/main" val="2433137071"/>
                  </a:ext>
                </a:extLst>
              </a:tr>
            </a:tbl>
          </a:graphicData>
        </a:graphic>
      </p:graphicFrame>
    </p:spTree>
    <p:extLst>
      <p:ext uri="{BB962C8B-B14F-4D97-AF65-F5344CB8AC3E}">
        <p14:creationId xmlns:p14="http://schemas.microsoft.com/office/powerpoint/2010/main" val="4952129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8212A-E6EE-FFCD-0FE1-3D1FF8445B9A}"/>
              </a:ext>
            </a:extLst>
          </p:cNvPr>
          <p:cNvSpPr>
            <a:spLocks noGrp="1"/>
          </p:cNvSpPr>
          <p:nvPr>
            <p:ph type="title"/>
          </p:nvPr>
        </p:nvSpPr>
        <p:spPr>
          <a:xfrm>
            <a:off x="914400" y="495301"/>
            <a:ext cx="9220200" cy="1107996"/>
          </a:xfrm>
        </p:spPr>
        <p:txBody>
          <a:bodyPr/>
          <a:lstStyle/>
          <a:p>
            <a:r>
              <a:rPr lang="en-US" sz="7200" dirty="0"/>
              <a:t>TESTING</a:t>
            </a:r>
            <a:endParaRPr lang="en-IN" sz="7200" dirty="0"/>
          </a:p>
        </p:txBody>
      </p:sp>
      <p:graphicFrame>
        <p:nvGraphicFramePr>
          <p:cNvPr id="5" name="Table 4">
            <a:extLst>
              <a:ext uri="{FF2B5EF4-FFF2-40B4-BE49-F238E27FC236}">
                <a16:creationId xmlns:a16="http://schemas.microsoft.com/office/drawing/2014/main" id="{9620021E-59E3-7093-7D7B-73DB10CCBCDF}"/>
              </a:ext>
            </a:extLst>
          </p:cNvPr>
          <p:cNvGraphicFramePr>
            <a:graphicFrameLocks noGrp="1"/>
          </p:cNvGraphicFramePr>
          <p:nvPr>
            <p:extLst>
              <p:ext uri="{D42A27DB-BD31-4B8C-83A1-F6EECF244321}">
                <p14:modId xmlns:p14="http://schemas.microsoft.com/office/powerpoint/2010/main" val="2624569081"/>
              </p:ext>
            </p:extLst>
          </p:nvPr>
        </p:nvGraphicFramePr>
        <p:xfrm>
          <a:off x="838200" y="2476500"/>
          <a:ext cx="17145000" cy="7608713"/>
        </p:xfrm>
        <a:graphic>
          <a:graphicData uri="http://schemas.openxmlformats.org/drawingml/2006/table">
            <a:tbl>
              <a:tblPr>
                <a:tableStyleId>{BC89EF96-8CEA-46FF-86C4-4CE0E7609802}</a:tableStyleId>
              </a:tblPr>
              <a:tblGrid>
                <a:gridCol w="3429000">
                  <a:extLst>
                    <a:ext uri="{9D8B030D-6E8A-4147-A177-3AD203B41FA5}">
                      <a16:colId xmlns:a16="http://schemas.microsoft.com/office/drawing/2014/main" val="212918560"/>
                    </a:ext>
                  </a:extLst>
                </a:gridCol>
                <a:gridCol w="3429000">
                  <a:extLst>
                    <a:ext uri="{9D8B030D-6E8A-4147-A177-3AD203B41FA5}">
                      <a16:colId xmlns:a16="http://schemas.microsoft.com/office/drawing/2014/main" val="2261250586"/>
                    </a:ext>
                  </a:extLst>
                </a:gridCol>
                <a:gridCol w="3429000">
                  <a:extLst>
                    <a:ext uri="{9D8B030D-6E8A-4147-A177-3AD203B41FA5}">
                      <a16:colId xmlns:a16="http://schemas.microsoft.com/office/drawing/2014/main" val="2084771898"/>
                    </a:ext>
                  </a:extLst>
                </a:gridCol>
                <a:gridCol w="3429000">
                  <a:extLst>
                    <a:ext uri="{9D8B030D-6E8A-4147-A177-3AD203B41FA5}">
                      <a16:colId xmlns:a16="http://schemas.microsoft.com/office/drawing/2014/main" val="941013938"/>
                    </a:ext>
                  </a:extLst>
                </a:gridCol>
                <a:gridCol w="3429000">
                  <a:extLst>
                    <a:ext uri="{9D8B030D-6E8A-4147-A177-3AD203B41FA5}">
                      <a16:colId xmlns:a16="http://schemas.microsoft.com/office/drawing/2014/main" val="2719764452"/>
                    </a:ext>
                  </a:extLst>
                </a:gridCol>
              </a:tblGrid>
              <a:tr h="913385">
                <a:tc>
                  <a:txBody>
                    <a:bodyPr/>
                    <a:lstStyle/>
                    <a:p>
                      <a:pPr>
                        <a:buNone/>
                      </a:pPr>
                      <a:r>
                        <a:rPr lang="en-IN" sz="2800" b="1" dirty="0"/>
                        <a:t>Test Case No</a:t>
                      </a:r>
                      <a:endParaRPr lang="en-IN" sz="28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800" b="1"/>
                        <a:t>Test Case Description</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b="1" dirty="0"/>
                        <a:t>Input</a:t>
                      </a:r>
                      <a:endParaRPr lang="en-IN" sz="28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800" b="1"/>
                        <a:t>Expected Output</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b="1"/>
                        <a:t>Status</a:t>
                      </a:r>
                      <a:endParaRPr lang="en-IN" sz="2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8233538"/>
                  </a:ext>
                </a:extLst>
              </a:tr>
              <a:tr h="1330932">
                <a:tc>
                  <a:txBody>
                    <a:bodyPr/>
                    <a:lstStyle/>
                    <a:p>
                      <a:pPr>
                        <a:buNone/>
                      </a:pPr>
                      <a:r>
                        <a:rPr lang="en-IN" sz="2800" b="1"/>
                        <a:t>UI_01</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dirty="0"/>
                        <a:t>Verify homepage loads properly</a:t>
                      </a:r>
                      <a:endParaRPr lang="en-IN" sz="28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Launch app</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Homepage should display without errors</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Pass</a:t>
                      </a:r>
                      <a:endParaRPr lang="en-IN" sz="2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402023326"/>
                  </a:ext>
                </a:extLst>
              </a:tr>
              <a:tr h="1330932">
                <a:tc>
                  <a:txBody>
                    <a:bodyPr/>
                    <a:lstStyle/>
                    <a:p>
                      <a:pPr>
                        <a:buNone/>
                      </a:pPr>
                      <a:r>
                        <a:rPr lang="en-IN" sz="2800" b="1"/>
                        <a:t>UI_02</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dirty="0"/>
                        <a:t>Check navigation to Image Detection page</a:t>
                      </a:r>
                      <a:endParaRPr lang="en-IN" sz="28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Click </a:t>
                      </a:r>
                      <a:r>
                        <a:rPr lang="en-IN" sz="2800" b="1"/>
                        <a:t>Image Detection</a:t>
                      </a:r>
                      <a:r>
                        <a:rPr lang="en-IN" sz="2800"/>
                        <a:t> button</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Image detection page should open</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Pass</a:t>
                      </a:r>
                      <a:endParaRPr lang="en-IN" sz="2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859002446"/>
                  </a:ext>
                </a:extLst>
              </a:tr>
              <a:tr h="1330932">
                <a:tc>
                  <a:txBody>
                    <a:bodyPr/>
                    <a:lstStyle/>
                    <a:p>
                      <a:pPr>
                        <a:buNone/>
                      </a:pPr>
                      <a:r>
                        <a:rPr lang="en-IN" sz="2800" b="1"/>
                        <a:t>UI_03</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Check navigation to Video Detection page</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Click </a:t>
                      </a:r>
                      <a:r>
                        <a:rPr lang="en-IN" sz="2800" b="1"/>
                        <a:t>Video Detection</a:t>
                      </a:r>
                      <a:r>
                        <a:rPr lang="en-IN" sz="2800"/>
                        <a:t> button</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dirty="0"/>
                        <a:t>Video detection page should open</a:t>
                      </a:r>
                      <a:endParaRPr lang="en-US" sz="28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Pass</a:t>
                      </a:r>
                      <a:endParaRPr lang="en-IN" sz="2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51987796"/>
                  </a:ext>
                </a:extLst>
              </a:tr>
              <a:tr h="1330932">
                <a:tc>
                  <a:txBody>
                    <a:bodyPr/>
                    <a:lstStyle/>
                    <a:p>
                      <a:pPr>
                        <a:buNone/>
                      </a:pPr>
                      <a:r>
                        <a:rPr lang="en-IN" sz="2800" b="1"/>
                        <a:t>UI_04</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Responsive layout check</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Open app in mobile view</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Layout should adjust and remain readable</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Pass</a:t>
                      </a:r>
                      <a:endParaRPr lang="en-IN" sz="2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290031976"/>
                  </a:ext>
                </a:extLst>
              </a:tr>
              <a:tr h="1330932">
                <a:tc>
                  <a:txBody>
                    <a:bodyPr/>
                    <a:lstStyle/>
                    <a:p>
                      <a:pPr>
                        <a:buNone/>
                      </a:pPr>
                      <a:r>
                        <a:rPr lang="en-IN" sz="2800" b="1"/>
                        <a:t>UI_05</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Drag-and-drop file upload UI</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Drag image/video onto upload area</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File should be previewed or accepted</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dirty="0"/>
                        <a:t>Pass</a:t>
                      </a:r>
                      <a:endParaRPr lang="en-IN" sz="2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111579791"/>
                  </a:ext>
                </a:extLst>
              </a:tr>
            </a:tbl>
          </a:graphicData>
        </a:graphic>
      </p:graphicFrame>
      <p:sp>
        <p:nvSpPr>
          <p:cNvPr id="6" name="TextBox 5">
            <a:extLst>
              <a:ext uri="{FF2B5EF4-FFF2-40B4-BE49-F238E27FC236}">
                <a16:creationId xmlns:a16="http://schemas.microsoft.com/office/drawing/2014/main" id="{DCC21DC2-03F7-CAB0-AFB3-0741A9C4F0BD}"/>
              </a:ext>
            </a:extLst>
          </p:cNvPr>
          <p:cNvSpPr txBox="1"/>
          <p:nvPr/>
        </p:nvSpPr>
        <p:spPr>
          <a:xfrm>
            <a:off x="685800" y="1747511"/>
            <a:ext cx="2044149" cy="584775"/>
          </a:xfrm>
          <a:prstGeom prst="rect">
            <a:avLst/>
          </a:prstGeom>
          <a:noFill/>
        </p:spPr>
        <p:txBody>
          <a:bodyPr wrap="none" rtlCol="0">
            <a:spAutoFit/>
          </a:bodyPr>
          <a:lstStyle/>
          <a:p>
            <a:r>
              <a:rPr lang="en-US" sz="3200" b="1" dirty="0">
                <a:latin typeface="Times New Roman" panose="02020603050405020304" pitchFamily="18" charset="0"/>
                <a:cs typeface="Times New Roman" panose="02020603050405020304" pitchFamily="18" charset="0"/>
              </a:rPr>
              <a:t>UI Testing</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5670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95069C32-F508-2EBC-2880-AB08B9239BE5}"/>
              </a:ext>
            </a:extLst>
          </p:cNvPr>
          <p:cNvGraphicFramePr>
            <a:graphicFrameLocks noGrp="1"/>
          </p:cNvGraphicFramePr>
          <p:nvPr>
            <p:extLst>
              <p:ext uri="{D42A27DB-BD31-4B8C-83A1-F6EECF244321}">
                <p14:modId xmlns:p14="http://schemas.microsoft.com/office/powerpoint/2010/main" val="635410968"/>
              </p:ext>
            </p:extLst>
          </p:nvPr>
        </p:nvGraphicFramePr>
        <p:xfrm>
          <a:off x="990600" y="1638300"/>
          <a:ext cx="16051210" cy="8229600"/>
        </p:xfrm>
        <a:graphic>
          <a:graphicData uri="http://schemas.openxmlformats.org/drawingml/2006/table">
            <a:tbl>
              <a:tblPr>
                <a:tableStyleId>{BC89EF96-8CEA-46FF-86C4-4CE0E7609802}</a:tableStyleId>
              </a:tblPr>
              <a:tblGrid>
                <a:gridCol w="3210242">
                  <a:extLst>
                    <a:ext uri="{9D8B030D-6E8A-4147-A177-3AD203B41FA5}">
                      <a16:colId xmlns:a16="http://schemas.microsoft.com/office/drawing/2014/main" val="2301469657"/>
                    </a:ext>
                  </a:extLst>
                </a:gridCol>
                <a:gridCol w="3210242">
                  <a:extLst>
                    <a:ext uri="{9D8B030D-6E8A-4147-A177-3AD203B41FA5}">
                      <a16:colId xmlns:a16="http://schemas.microsoft.com/office/drawing/2014/main" val="2518289044"/>
                    </a:ext>
                  </a:extLst>
                </a:gridCol>
                <a:gridCol w="3210242">
                  <a:extLst>
                    <a:ext uri="{9D8B030D-6E8A-4147-A177-3AD203B41FA5}">
                      <a16:colId xmlns:a16="http://schemas.microsoft.com/office/drawing/2014/main" val="3774710690"/>
                    </a:ext>
                  </a:extLst>
                </a:gridCol>
                <a:gridCol w="3210242">
                  <a:extLst>
                    <a:ext uri="{9D8B030D-6E8A-4147-A177-3AD203B41FA5}">
                      <a16:colId xmlns:a16="http://schemas.microsoft.com/office/drawing/2014/main" val="2923560423"/>
                    </a:ext>
                  </a:extLst>
                </a:gridCol>
                <a:gridCol w="3210242">
                  <a:extLst>
                    <a:ext uri="{9D8B030D-6E8A-4147-A177-3AD203B41FA5}">
                      <a16:colId xmlns:a16="http://schemas.microsoft.com/office/drawing/2014/main" val="3029029210"/>
                    </a:ext>
                  </a:extLst>
                </a:gridCol>
              </a:tblGrid>
              <a:tr h="0">
                <a:tc>
                  <a:txBody>
                    <a:bodyPr/>
                    <a:lstStyle/>
                    <a:p>
                      <a:pPr>
                        <a:buNone/>
                      </a:pPr>
                      <a:r>
                        <a:rPr lang="en-IN" sz="2800" b="1" dirty="0"/>
                        <a:t>Test Case No</a:t>
                      </a:r>
                      <a:endParaRPr lang="en-IN" sz="28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800" b="1"/>
                        <a:t>Test Case Description</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b="1"/>
                        <a:t>Input</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b="1"/>
                        <a:t>Expected Output</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b="1"/>
                        <a:t>Status</a:t>
                      </a:r>
                      <a:endParaRPr lang="en-IN" sz="2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124968218"/>
                  </a:ext>
                </a:extLst>
              </a:tr>
              <a:tr h="0">
                <a:tc>
                  <a:txBody>
                    <a:bodyPr/>
                    <a:lstStyle/>
                    <a:p>
                      <a:pPr>
                        <a:buNone/>
                      </a:pPr>
                      <a:r>
                        <a:rPr lang="en-IN" sz="2800" b="1"/>
                        <a:t>IMG_01</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Upload valid image file</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dirty="0"/>
                        <a:t>.jpg / .</a:t>
                      </a:r>
                      <a:r>
                        <a:rPr lang="en-IN" sz="2800" dirty="0" err="1"/>
                        <a:t>png</a:t>
                      </a:r>
                      <a:endParaRPr lang="en-IN" sz="28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System should detect and show </a:t>
                      </a:r>
                      <a:r>
                        <a:rPr lang="en-US" sz="2800" b="1"/>
                        <a:t>Real or Deepfake</a:t>
                      </a:r>
                      <a:r>
                        <a:rPr lang="en-US" sz="2800"/>
                        <a:t> with confidence score</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Pass</a:t>
                      </a:r>
                      <a:endParaRPr lang="en-IN" sz="2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38843761"/>
                  </a:ext>
                </a:extLst>
              </a:tr>
              <a:tr h="0">
                <a:tc>
                  <a:txBody>
                    <a:bodyPr/>
                    <a:lstStyle/>
                    <a:p>
                      <a:pPr>
                        <a:buNone/>
                      </a:pPr>
                      <a:r>
                        <a:rPr lang="en-IN" sz="2800" b="1"/>
                        <a:t>IMG_02</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Upload invalid format</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.exe / .txt / .zip</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System should show message: </a:t>
                      </a:r>
                      <a:r>
                        <a:rPr lang="en-US" sz="2800" b="1"/>
                        <a:t>“Invalid image format”</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Pass</a:t>
                      </a:r>
                      <a:endParaRPr lang="en-IN" sz="2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95822927"/>
                  </a:ext>
                </a:extLst>
              </a:tr>
              <a:tr h="0">
                <a:tc>
                  <a:txBody>
                    <a:bodyPr/>
                    <a:lstStyle/>
                    <a:p>
                      <a:pPr>
                        <a:buNone/>
                      </a:pPr>
                      <a:r>
                        <a:rPr lang="en-IN" sz="2800" b="1"/>
                        <a:t>IMG_03</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Submit without selecting an image</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Click detect button</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System should show </a:t>
                      </a:r>
                      <a:r>
                        <a:rPr lang="en-US" sz="2800" b="1"/>
                        <a:t>“No file selected”</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Pass</a:t>
                      </a:r>
                      <a:endParaRPr lang="en-IN" sz="2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964161541"/>
                  </a:ext>
                </a:extLst>
              </a:tr>
              <a:tr h="0">
                <a:tc>
                  <a:txBody>
                    <a:bodyPr/>
                    <a:lstStyle/>
                    <a:p>
                      <a:pPr>
                        <a:buNone/>
                      </a:pPr>
                      <a:r>
                        <a:rPr lang="en-IN" sz="2800" b="1"/>
                        <a:t>IMG_04</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Upload corrupted image</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Broken or unreadable file</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System should show </a:t>
                      </a:r>
                      <a:r>
                        <a:rPr lang="en-US" sz="2800" b="1"/>
                        <a:t>“Unable to process image”</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Pass</a:t>
                      </a:r>
                      <a:endParaRPr lang="en-IN" sz="2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344476185"/>
                  </a:ext>
                </a:extLst>
              </a:tr>
              <a:tr h="0">
                <a:tc>
                  <a:txBody>
                    <a:bodyPr/>
                    <a:lstStyle/>
                    <a:p>
                      <a:pPr>
                        <a:buNone/>
                      </a:pPr>
                      <a:r>
                        <a:rPr lang="en-IN" sz="2800" b="1" dirty="0"/>
                        <a:t>IMG_05</a:t>
                      </a:r>
                      <a:endParaRPr lang="en-IN" sz="28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Large resolution image check</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4K image</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System should resize and detect without crashing</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dirty="0"/>
                        <a:t>Pass</a:t>
                      </a:r>
                      <a:endParaRPr lang="en-IN" sz="2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236964834"/>
                  </a:ext>
                </a:extLst>
              </a:tr>
            </a:tbl>
          </a:graphicData>
        </a:graphic>
      </p:graphicFrame>
      <p:sp>
        <p:nvSpPr>
          <p:cNvPr id="4" name="TextBox 3">
            <a:extLst>
              <a:ext uri="{FF2B5EF4-FFF2-40B4-BE49-F238E27FC236}">
                <a16:creationId xmlns:a16="http://schemas.microsoft.com/office/drawing/2014/main" id="{D6CC9AEC-988B-427C-11A8-C888BF2DB634}"/>
              </a:ext>
            </a:extLst>
          </p:cNvPr>
          <p:cNvSpPr txBox="1"/>
          <p:nvPr/>
        </p:nvSpPr>
        <p:spPr>
          <a:xfrm>
            <a:off x="962891" y="800100"/>
            <a:ext cx="3243196" cy="584775"/>
          </a:xfrm>
          <a:prstGeom prst="rect">
            <a:avLst/>
          </a:prstGeom>
          <a:noFill/>
        </p:spPr>
        <p:txBody>
          <a:bodyPr wrap="none" rtlCol="0">
            <a:spAutoFit/>
          </a:bodyPr>
          <a:lstStyle/>
          <a:p>
            <a:r>
              <a:rPr lang="en-US" sz="3200" b="1" dirty="0">
                <a:latin typeface="Times New Roman" panose="02020603050405020304" pitchFamily="18" charset="0"/>
                <a:cs typeface="Times New Roman" panose="02020603050405020304" pitchFamily="18" charset="0"/>
              </a:rPr>
              <a:t>Image Test Cases</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82001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C8566C-2F82-85E3-7E99-BD7DB9975121}"/>
              </a:ext>
            </a:extLst>
          </p:cNvPr>
          <p:cNvSpPr txBox="1"/>
          <p:nvPr/>
        </p:nvSpPr>
        <p:spPr>
          <a:xfrm>
            <a:off x="838200" y="571500"/>
            <a:ext cx="3174267" cy="584775"/>
          </a:xfrm>
          <a:prstGeom prst="rect">
            <a:avLst/>
          </a:prstGeom>
          <a:noFill/>
        </p:spPr>
        <p:txBody>
          <a:bodyPr wrap="none" rtlCol="0">
            <a:spAutoFit/>
          </a:bodyPr>
          <a:lstStyle/>
          <a:p>
            <a:r>
              <a:rPr lang="en-US" sz="3200" b="1" dirty="0">
                <a:latin typeface="Times New Roman" panose="02020603050405020304" pitchFamily="18" charset="0"/>
                <a:cs typeface="Times New Roman" panose="02020603050405020304" pitchFamily="18" charset="0"/>
              </a:rPr>
              <a:t>Video Test Cases</a:t>
            </a:r>
            <a:endParaRPr lang="en-IN" sz="3200" b="1"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5A7FBD66-05CD-F3A5-D559-5C10BB3B7BA3}"/>
              </a:ext>
            </a:extLst>
          </p:cNvPr>
          <p:cNvGraphicFramePr>
            <a:graphicFrameLocks noGrp="1"/>
          </p:cNvGraphicFramePr>
          <p:nvPr>
            <p:extLst>
              <p:ext uri="{D42A27DB-BD31-4B8C-83A1-F6EECF244321}">
                <p14:modId xmlns:p14="http://schemas.microsoft.com/office/powerpoint/2010/main" val="3520915348"/>
              </p:ext>
            </p:extLst>
          </p:nvPr>
        </p:nvGraphicFramePr>
        <p:xfrm>
          <a:off x="741218" y="1630680"/>
          <a:ext cx="16860980" cy="8523506"/>
        </p:xfrm>
        <a:graphic>
          <a:graphicData uri="http://schemas.openxmlformats.org/drawingml/2006/table">
            <a:tbl>
              <a:tblPr>
                <a:tableStyleId>{BC89EF96-8CEA-46FF-86C4-4CE0E7609802}</a:tableStyleId>
              </a:tblPr>
              <a:tblGrid>
                <a:gridCol w="3372196">
                  <a:extLst>
                    <a:ext uri="{9D8B030D-6E8A-4147-A177-3AD203B41FA5}">
                      <a16:colId xmlns:a16="http://schemas.microsoft.com/office/drawing/2014/main" val="1282352444"/>
                    </a:ext>
                  </a:extLst>
                </a:gridCol>
                <a:gridCol w="3372196">
                  <a:extLst>
                    <a:ext uri="{9D8B030D-6E8A-4147-A177-3AD203B41FA5}">
                      <a16:colId xmlns:a16="http://schemas.microsoft.com/office/drawing/2014/main" val="3247688773"/>
                    </a:ext>
                  </a:extLst>
                </a:gridCol>
                <a:gridCol w="3372196">
                  <a:extLst>
                    <a:ext uri="{9D8B030D-6E8A-4147-A177-3AD203B41FA5}">
                      <a16:colId xmlns:a16="http://schemas.microsoft.com/office/drawing/2014/main" val="836382324"/>
                    </a:ext>
                  </a:extLst>
                </a:gridCol>
                <a:gridCol w="3372196">
                  <a:extLst>
                    <a:ext uri="{9D8B030D-6E8A-4147-A177-3AD203B41FA5}">
                      <a16:colId xmlns:a16="http://schemas.microsoft.com/office/drawing/2014/main" val="1826074588"/>
                    </a:ext>
                  </a:extLst>
                </a:gridCol>
                <a:gridCol w="3372196">
                  <a:extLst>
                    <a:ext uri="{9D8B030D-6E8A-4147-A177-3AD203B41FA5}">
                      <a16:colId xmlns:a16="http://schemas.microsoft.com/office/drawing/2014/main" val="714852614"/>
                    </a:ext>
                  </a:extLst>
                </a:gridCol>
              </a:tblGrid>
              <a:tr h="899133">
                <a:tc>
                  <a:txBody>
                    <a:bodyPr/>
                    <a:lstStyle/>
                    <a:p>
                      <a:pPr>
                        <a:buNone/>
                      </a:pPr>
                      <a:r>
                        <a:rPr lang="en-IN" sz="2800" b="1"/>
                        <a:t>Case No</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b="1"/>
                        <a:t>Test Case Description</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b="1"/>
                        <a:t>Input</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b="1"/>
                        <a:t>Expected Output</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b="1"/>
                        <a:t>Status</a:t>
                      </a:r>
                      <a:endParaRPr lang="en-IN" sz="2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42672541"/>
                  </a:ext>
                </a:extLst>
              </a:tr>
              <a:tr h="1711253">
                <a:tc>
                  <a:txBody>
                    <a:bodyPr/>
                    <a:lstStyle/>
                    <a:p>
                      <a:pPr>
                        <a:buNone/>
                      </a:pPr>
                      <a:r>
                        <a:rPr lang="en-IN" sz="2800" b="1" dirty="0"/>
                        <a:t>VID_01</a:t>
                      </a:r>
                      <a:endParaRPr lang="en-IN" sz="28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800" dirty="0"/>
                        <a:t>Upload valid video file</a:t>
                      </a:r>
                      <a:endParaRPr lang="en-IN" sz="28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800" dirty="0"/>
                        <a:t>.mp4 / .avi</a:t>
                      </a:r>
                      <a:endParaRPr lang="en-IN" sz="28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System should analyze frames and show final result with statistics</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Pass</a:t>
                      </a:r>
                      <a:endParaRPr lang="en-IN" sz="2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853922674"/>
                  </a:ext>
                </a:extLst>
              </a:tr>
              <a:tr h="1711253">
                <a:tc>
                  <a:txBody>
                    <a:bodyPr/>
                    <a:lstStyle/>
                    <a:p>
                      <a:pPr>
                        <a:buNone/>
                      </a:pPr>
                      <a:r>
                        <a:rPr lang="en-IN" sz="2800" b="1"/>
                        <a:t>VID_02</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Upload unsupported format</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.gif / .webm</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System should display </a:t>
                      </a:r>
                      <a:r>
                        <a:rPr lang="en-US" sz="2800" b="1"/>
                        <a:t>“Unsupported video format”</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Pass</a:t>
                      </a:r>
                      <a:endParaRPr lang="en-IN" sz="2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100508494"/>
                  </a:ext>
                </a:extLst>
              </a:tr>
              <a:tr h="899133">
                <a:tc>
                  <a:txBody>
                    <a:bodyPr/>
                    <a:lstStyle/>
                    <a:p>
                      <a:pPr>
                        <a:buNone/>
                      </a:pPr>
                      <a:r>
                        <a:rPr lang="en-IN" sz="2800" b="1"/>
                        <a:t>VID_03</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Submit without uploading video</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Click detect button</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System should show </a:t>
                      </a:r>
                      <a:r>
                        <a:rPr lang="en-US" sz="2800" b="1"/>
                        <a:t>“No file selected”</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Pass</a:t>
                      </a:r>
                      <a:endParaRPr lang="en-IN" sz="2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303335780"/>
                  </a:ext>
                </a:extLst>
              </a:tr>
              <a:tr h="1711253">
                <a:tc>
                  <a:txBody>
                    <a:bodyPr/>
                    <a:lstStyle/>
                    <a:p>
                      <a:pPr>
                        <a:buNone/>
                      </a:pPr>
                      <a:r>
                        <a:rPr lang="en-IN" sz="2800" b="1"/>
                        <a:t>VID_04</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Test processing of long video</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Video longer than 2 min</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System should process without crashing (processing may take time)</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Pass</a:t>
                      </a:r>
                      <a:endParaRPr lang="en-IN" sz="2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88028368"/>
                  </a:ext>
                </a:extLst>
              </a:tr>
              <a:tr h="1305193">
                <a:tc>
                  <a:txBody>
                    <a:bodyPr/>
                    <a:lstStyle/>
                    <a:p>
                      <a:pPr>
                        <a:buNone/>
                      </a:pPr>
                      <a:r>
                        <a:rPr lang="en-IN" sz="2800" b="1"/>
                        <a:t>VID_05</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Video with no face detected</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a:t>Random scenery video</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US" sz="2800"/>
                        <a:t>System should show </a:t>
                      </a:r>
                      <a:r>
                        <a:rPr lang="en-US" sz="2800" b="1"/>
                        <a:t>“No face detected”</a:t>
                      </a:r>
                      <a:r>
                        <a:rPr lang="en-US" sz="2800"/>
                        <a:t> message</a:t>
                      </a:r>
                      <a:endParaRPr lang="en-US"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dirty="0"/>
                        <a:t>Pass</a:t>
                      </a:r>
                      <a:endParaRPr lang="en-IN" sz="2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117123959"/>
                  </a:ext>
                </a:extLst>
              </a:tr>
            </a:tbl>
          </a:graphicData>
        </a:graphic>
      </p:graphicFrame>
    </p:spTree>
    <p:extLst>
      <p:ext uri="{BB962C8B-B14F-4D97-AF65-F5344CB8AC3E}">
        <p14:creationId xmlns:p14="http://schemas.microsoft.com/office/powerpoint/2010/main" val="12835091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C9207-A479-6FB4-F7DE-B0CD507ECECA}"/>
              </a:ext>
            </a:extLst>
          </p:cNvPr>
          <p:cNvSpPr>
            <a:spLocks noGrp="1"/>
          </p:cNvSpPr>
          <p:nvPr>
            <p:ph type="title"/>
          </p:nvPr>
        </p:nvSpPr>
        <p:spPr>
          <a:xfrm>
            <a:off x="457200" y="571500"/>
            <a:ext cx="14630399" cy="1384995"/>
          </a:xfrm>
        </p:spPr>
        <p:txBody>
          <a:bodyPr/>
          <a:lstStyle/>
          <a:p>
            <a:r>
              <a:rPr lang="en-IN" dirty="0"/>
              <a:t>RESULT (SNAP SHOTS)</a:t>
            </a:r>
          </a:p>
        </p:txBody>
      </p:sp>
      <p:pic>
        <p:nvPicPr>
          <p:cNvPr id="4" name="Picture 3">
            <a:extLst>
              <a:ext uri="{FF2B5EF4-FFF2-40B4-BE49-F238E27FC236}">
                <a16:creationId xmlns:a16="http://schemas.microsoft.com/office/drawing/2014/main" id="{65903354-2D5C-3B8B-43B4-B69ADDE2AA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7194" y="2247900"/>
            <a:ext cx="14993612" cy="7275848"/>
          </a:xfrm>
          <a:prstGeom prst="rect">
            <a:avLst/>
          </a:prstGeom>
        </p:spPr>
      </p:pic>
    </p:spTree>
    <p:extLst>
      <p:ext uri="{BB962C8B-B14F-4D97-AF65-F5344CB8AC3E}">
        <p14:creationId xmlns:p14="http://schemas.microsoft.com/office/powerpoint/2010/main" val="17179587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0E2598A-EC12-A1BF-60CC-E069578CFA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609" y="1764648"/>
            <a:ext cx="8857694" cy="8077200"/>
          </a:xfrm>
          <a:prstGeom prst="rect">
            <a:avLst/>
          </a:prstGeom>
        </p:spPr>
      </p:pic>
      <p:pic>
        <p:nvPicPr>
          <p:cNvPr id="7" name="Picture 6">
            <a:extLst>
              <a:ext uri="{FF2B5EF4-FFF2-40B4-BE49-F238E27FC236}">
                <a16:creationId xmlns:a16="http://schemas.microsoft.com/office/drawing/2014/main" id="{E2E1CBD6-6215-F651-5678-2274AFDFB6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97698" y="1808567"/>
            <a:ext cx="8488327" cy="8033282"/>
          </a:xfrm>
          <a:prstGeom prst="rect">
            <a:avLst/>
          </a:prstGeom>
        </p:spPr>
      </p:pic>
      <p:sp>
        <p:nvSpPr>
          <p:cNvPr id="8" name="TextBox 7">
            <a:extLst>
              <a:ext uri="{FF2B5EF4-FFF2-40B4-BE49-F238E27FC236}">
                <a16:creationId xmlns:a16="http://schemas.microsoft.com/office/drawing/2014/main" id="{1A7DD6FC-349E-335C-A0DF-DDFB87804C8F}"/>
              </a:ext>
            </a:extLst>
          </p:cNvPr>
          <p:cNvSpPr txBox="1"/>
          <p:nvPr/>
        </p:nvSpPr>
        <p:spPr>
          <a:xfrm>
            <a:off x="533400" y="723900"/>
            <a:ext cx="5687776" cy="769441"/>
          </a:xfrm>
          <a:prstGeom prst="rect">
            <a:avLst/>
          </a:prstGeom>
          <a:noFill/>
        </p:spPr>
        <p:txBody>
          <a:bodyPr wrap="none" rtlCol="0">
            <a:spAutoFit/>
          </a:bodyPr>
          <a:lstStyle/>
          <a:p>
            <a:r>
              <a:rPr lang="en-IN" sz="4400" b="1" dirty="0">
                <a:latin typeface="Times New Roman" panose="02020603050405020304" pitchFamily="18" charset="0"/>
                <a:cs typeface="Times New Roman" panose="02020603050405020304" pitchFamily="18" charset="0"/>
              </a:rPr>
              <a:t>IMAGE DETECTION</a:t>
            </a:r>
          </a:p>
        </p:txBody>
      </p:sp>
    </p:spTree>
    <p:extLst>
      <p:ext uri="{BB962C8B-B14F-4D97-AF65-F5344CB8AC3E}">
        <p14:creationId xmlns:p14="http://schemas.microsoft.com/office/powerpoint/2010/main" val="16197684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01EB6E-34A9-D747-F8E5-44D9DFFC64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0" y="2476500"/>
            <a:ext cx="5763270" cy="6916277"/>
          </a:xfrm>
          <a:prstGeom prst="rect">
            <a:avLst/>
          </a:prstGeom>
        </p:spPr>
      </p:pic>
      <p:pic>
        <p:nvPicPr>
          <p:cNvPr id="5" name="Picture 4">
            <a:extLst>
              <a:ext uri="{FF2B5EF4-FFF2-40B4-BE49-F238E27FC236}">
                <a16:creationId xmlns:a16="http://schemas.microsoft.com/office/drawing/2014/main" id="{28BDC194-1DFF-CF32-A9C3-AF83A85719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10300" y="2247900"/>
            <a:ext cx="6077700" cy="6916278"/>
          </a:xfrm>
          <a:prstGeom prst="rect">
            <a:avLst/>
          </a:prstGeom>
        </p:spPr>
      </p:pic>
      <p:pic>
        <p:nvPicPr>
          <p:cNvPr id="7" name="Picture 6">
            <a:extLst>
              <a:ext uri="{FF2B5EF4-FFF2-40B4-BE49-F238E27FC236}">
                <a16:creationId xmlns:a16="http://schemas.microsoft.com/office/drawing/2014/main" id="{C2ECF10D-39C8-20D6-C193-F079326638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8600" y="2095500"/>
            <a:ext cx="6306359" cy="7861851"/>
          </a:xfrm>
          <a:prstGeom prst="rect">
            <a:avLst/>
          </a:prstGeom>
        </p:spPr>
      </p:pic>
      <p:sp>
        <p:nvSpPr>
          <p:cNvPr id="8" name="TextBox 7">
            <a:extLst>
              <a:ext uri="{FF2B5EF4-FFF2-40B4-BE49-F238E27FC236}">
                <a16:creationId xmlns:a16="http://schemas.microsoft.com/office/drawing/2014/main" id="{54FA2BE3-649E-1497-156E-130F0E317E31}"/>
              </a:ext>
            </a:extLst>
          </p:cNvPr>
          <p:cNvSpPr txBox="1"/>
          <p:nvPr/>
        </p:nvSpPr>
        <p:spPr>
          <a:xfrm>
            <a:off x="381000" y="952500"/>
            <a:ext cx="5070619" cy="707886"/>
          </a:xfrm>
          <a:prstGeom prst="rect">
            <a:avLst/>
          </a:prstGeom>
          <a:noFill/>
        </p:spPr>
        <p:txBody>
          <a:bodyPr wrap="none" rtlCol="0">
            <a:spAutoFit/>
          </a:bodyPr>
          <a:lstStyle/>
          <a:p>
            <a:r>
              <a:rPr lang="en-IN" sz="4000" b="1" dirty="0">
                <a:latin typeface="Times New Roman" panose="02020603050405020304" pitchFamily="18" charset="0"/>
                <a:cs typeface="Times New Roman" panose="02020603050405020304" pitchFamily="18" charset="0"/>
              </a:rPr>
              <a:t>VIDEO DETECTION</a:t>
            </a:r>
          </a:p>
        </p:txBody>
      </p:sp>
    </p:spTree>
    <p:extLst>
      <p:ext uri="{BB962C8B-B14F-4D97-AF65-F5344CB8AC3E}">
        <p14:creationId xmlns:p14="http://schemas.microsoft.com/office/powerpoint/2010/main" val="39193059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4359B-8BA9-8553-EA07-BAA9E8BE40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29600" y="1371288"/>
            <a:ext cx="8077200" cy="8353980"/>
          </a:xfrm>
          <a:prstGeom prst="rect">
            <a:avLst/>
          </a:prstGeom>
        </p:spPr>
      </p:pic>
      <p:pic>
        <p:nvPicPr>
          <p:cNvPr id="5" name="Picture 4">
            <a:extLst>
              <a:ext uri="{FF2B5EF4-FFF2-40B4-BE49-F238E27FC236}">
                <a16:creationId xmlns:a16="http://schemas.microsoft.com/office/drawing/2014/main" id="{568BD0FE-8DA8-EBEF-48EE-786C4AA875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1056141"/>
            <a:ext cx="7010400" cy="8686445"/>
          </a:xfrm>
          <a:prstGeom prst="rect">
            <a:avLst/>
          </a:prstGeom>
        </p:spPr>
      </p:pic>
      <p:sp>
        <p:nvSpPr>
          <p:cNvPr id="6" name="TextBox 5">
            <a:extLst>
              <a:ext uri="{FF2B5EF4-FFF2-40B4-BE49-F238E27FC236}">
                <a16:creationId xmlns:a16="http://schemas.microsoft.com/office/drawing/2014/main" id="{535CF243-BB35-4DDA-86A2-0E82CC36549F}"/>
              </a:ext>
            </a:extLst>
          </p:cNvPr>
          <p:cNvSpPr txBox="1"/>
          <p:nvPr/>
        </p:nvSpPr>
        <p:spPr>
          <a:xfrm>
            <a:off x="990600" y="348255"/>
            <a:ext cx="5423280" cy="707886"/>
          </a:xfrm>
          <a:prstGeom prst="rect">
            <a:avLst/>
          </a:prstGeom>
          <a:noFill/>
        </p:spPr>
        <p:txBody>
          <a:bodyPr wrap="none" rtlCol="0">
            <a:spAutoFit/>
          </a:bodyPr>
          <a:lstStyle/>
          <a:p>
            <a:r>
              <a:rPr lang="en-IN" sz="4000" b="1" dirty="0">
                <a:latin typeface="Times New Roman" panose="02020603050405020304" pitchFamily="18" charset="0"/>
                <a:cs typeface="Times New Roman" panose="02020603050405020304" pitchFamily="18" charset="0"/>
              </a:rPr>
              <a:t>ANALYSED REPORT </a:t>
            </a:r>
          </a:p>
        </p:txBody>
      </p:sp>
    </p:spTree>
    <p:extLst>
      <p:ext uri="{BB962C8B-B14F-4D97-AF65-F5344CB8AC3E}">
        <p14:creationId xmlns:p14="http://schemas.microsoft.com/office/powerpoint/2010/main" val="35347598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95906C-0A17-F009-580B-C2EEC5B564EA}"/>
              </a:ext>
            </a:extLst>
          </p:cNvPr>
          <p:cNvSpPr txBox="1"/>
          <p:nvPr/>
        </p:nvSpPr>
        <p:spPr>
          <a:xfrm>
            <a:off x="1219200" y="2476501"/>
            <a:ext cx="15087600" cy="3539430"/>
          </a:xfrm>
          <a:prstGeom prst="rect">
            <a:avLst/>
          </a:prstGeom>
          <a:noFill/>
        </p:spPr>
        <p:txBody>
          <a:bodyPr wrap="square">
            <a:spAutoFit/>
          </a:bodyPr>
          <a:lstStyle/>
          <a:p>
            <a:r>
              <a:rPr lang="en-US" sz="3200" dirty="0">
                <a:latin typeface="Times New Roman" panose="02020603050405020304" pitchFamily="18" charset="0"/>
                <a:cs typeface="Times New Roman" panose="02020603050405020304" pitchFamily="18" charset="0"/>
              </a:rPr>
              <a:t>The</a:t>
            </a:r>
            <a:r>
              <a:rPr lang="en-US" sz="3200" i="1"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AI-Powered Deepfake and Liveness Detection project demonstrates an effective method for detecting deepfake images and videos using deep learning. With the help of a lightweight </a:t>
            </a:r>
            <a:r>
              <a:rPr lang="en-US" sz="3200" dirty="0" err="1">
                <a:latin typeface="Times New Roman" panose="02020603050405020304" pitchFamily="18" charset="0"/>
                <a:cs typeface="Times New Roman" panose="02020603050405020304" pitchFamily="18" charset="0"/>
              </a:rPr>
              <a:t>MobileNet</a:t>
            </a:r>
            <a:r>
              <a:rPr lang="en-US" sz="3200" dirty="0">
                <a:latin typeface="Times New Roman" panose="02020603050405020304" pitchFamily="18" charset="0"/>
                <a:cs typeface="Times New Roman" panose="02020603050405020304" pitchFamily="18" charset="0"/>
              </a:rPr>
              <a:t> model and transfer learning, the system can reliably classify real and fake media. The web interface enables users to easily upload files and obtain results with confidence scores. This project proves that AI can play an important role in stopping the spread of deepfakes and ensuring digital media security. In the future, the system can be improved for better accuracy and to handle new deepfake techniques.</a:t>
            </a:r>
            <a:endParaRPr lang="en-IN" sz="32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D8B0106-33CE-FF3D-EC83-83C0EA261DA1}"/>
              </a:ext>
            </a:extLst>
          </p:cNvPr>
          <p:cNvSpPr txBox="1"/>
          <p:nvPr/>
        </p:nvSpPr>
        <p:spPr>
          <a:xfrm>
            <a:off x="1219200" y="1028700"/>
            <a:ext cx="5920210" cy="1107996"/>
          </a:xfrm>
          <a:prstGeom prst="rect">
            <a:avLst/>
          </a:prstGeom>
          <a:noFill/>
        </p:spPr>
        <p:txBody>
          <a:bodyPr wrap="none" rtlCol="0">
            <a:spAutoFit/>
          </a:bodyPr>
          <a:lstStyle/>
          <a:p>
            <a:r>
              <a:rPr lang="en-IN" sz="6600" b="1" dirty="0">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23471398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object 18"/>
          <p:cNvSpPr txBox="1">
            <a:spLocks noGrp="1"/>
          </p:cNvSpPr>
          <p:nvPr>
            <p:ph type="title"/>
          </p:nvPr>
        </p:nvSpPr>
        <p:spPr>
          <a:xfrm>
            <a:off x="4763515" y="373777"/>
            <a:ext cx="8581659" cy="1397819"/>
          </a:xfrm>
          <a:prstGeom prst="rect">
            <a:avLst/>
          </a:prstGeom>
        </p:spPr>
        <p:txBody>
          <a:bodyPr vert="horz" wrap="square" lIns="0" tIns="12700" rIns="0" bIns="0" rtlCol="0">
            <a:spAutoFit/>
          </a:bodyPr>
          <a:lstStyle/>
          <a:p>
            <a:pPr marL="12700">
              <a:lnSpc>
                <a:spcPct val="100000"/>
              </a:lnSpc>
              <a:spcBef>
                <a:spcPts val="100"/>
              </a:spcBef>
            </a:pPr>
            <a:r>
              <a:rPr lang="en-IN" spc="375" dirty="0"/>
              <a:t>REFERENCES</a:t>
            </a:r>
            <a:endParaRPr spc="375" dirty="0"/>
          </a:p>
        </p:txBody>
      </p:sp>
      <p:grpSp>
        <p:nvGrpSpPr>
          <p:cNvPr id="19" name="object 19"/>
          <p:cNvGrpSpPr/>
          <p:nvPr/>
        </p:nvGrpSpPr>
        <p:grpSpPr>
          <a:xfrm>
            <a:off x="12921170" y="5811176"/>
            <a:ext cx="848360" cy="560070"/>
            <a:chOff x="12921170" y="5811176"/>
            <a:chExt cx="848360" cy="560070"/>
          </a:xfrm>
        </p:grpSpPr>
        <p:sp>
          <p:nvSpPr>
            <p:cNvPr id="21" name="object 21"/>
            <p:cNvSpPr/>
            <p:nvPr/>
          </p:nvSpPr>
          <p:spPr>
            <a:xfrm>
              <a:off x="12921170" y="5811176"/>
              <a:ext cx="848360" cy="560070"/>
            </a:xfrm>
            <a:custGeom>
              <a:avLst/>
              <a:gdLst/>
              <a:ahLst/>
              <a:cxnLst/>
              <a:rect l="l" t="t" r="r" b="b"/>
              <a:pathLst>
                <a:path w="848359" h="560070">
                  <a:moveTo>
                    <a:pt x="625805" y="279400"/>
                  </a:moveTo>
                  <a:lnTo>
                    <a:pt x="625741" y="278130"/>
                  </a:lnTo>
                  <a:lnTo>
                    <a:pt x="622896" y="214630"/>
                  </a:lnTo>
                  <a:lnTo>
                    <a:pt x="614578" y="154940"/>
                  </a:lnTo>
                  <a:lnTo>
                    <a:pt x="612584" y="147015"/>
                  </a:lnTo>
                  <a:lnTo>
                    <a:pt x="612584" y="279400"/>
                  </a:lnTo>
                  <a:lnTo>
                    <a:pt x="608990" y="349250"/>
                  </a:lnTo>
                  <a:lnTo>
                    <a:pt x="598868" y="412750"/>
                  </a:lnTo>
                  <a:lnTo>
                    <a:pt x="583260" y="467360"/>
                  </a:lnTo>
                  <a:lnTo>
                    <a:pt x="563181" y="509270"/>
                  </a:lnTo>
                  <a:lnTo>
                    <a:pt x="513740" y="546100"/>
                  </a:lnTo>
                  <a:lnTo>
                    <a:pt x="504240" y="544830"/>
                  </a:lnTo>
                  <a:lnTo>
                    <a:pt x="471424" y="519430"/>
                  </a:lnTo>
                  <a:lnTo>
                    <a:pt x="468909" y="516890"/>
                  </a:lnTo>
                  <a:lnTo>
                    <a:pt x="468439" y="515620"/>
                  </a:lnTo>
                  <a:lnTo>
                    <a:pt x="456742" y="496570"/>
                  </a:lnTo>
                  <a:lnTo>
                    <a:pt x="448932" y="478790"/>
                  </a:lnTo>
                  <a:lnTo>
                    <a:pt x="446151" y="472440"/>
                  </a:lnTo>
                  <a:lnTo>
                    <a:pt x="436829" y="444500"/>
                  </a:lnTo>
                  <a:lnTo>
                    <a:pt x="434416" y="435178"/>
                  </a:lnTo>
                  <a:lnTo>
                    <a:pt x="434416" y="478790"/>
                  </a:lnTo>
                  <a:lnTo>
                    <a:pt x="398602" y="449580"/>
                  </a:lnTo>
                  <a:lnTo>
                    <a:pt x="358648" y="422910"/>
                  </a:lnTo>
                  <a:lnTo>
                    <a:pt x="314642" y="401320"/>
                  </a:lnTo>
                  <a:lnTo>
                    <a:pt x="276275" y="386080"/>
                  </a:lnTo>
                  <a:lnTo>
                    <a:pt x="266687" y="382270"/>
                  </a:lnTo>
                  <a:lnTo>
                    <a:pt x="258318" y="379730"/>
                  </a:lnTo>
                  <a:lnTo>
                    <a:pt x="252120" y="377190"/>
                  </a:lnTo>
                  <a:lnTo>
                    <a:pt x="251498" y="377075"/>
                  </a:lnTo>
                  <a:lnTo>
                    <a:pt x="251498" y="391160"/>
                  </a:lnTo>
                  <a:lnTo>
                    <a:pt x="248373" y="400050"/>
                  </a:lnTo>
                  <a:lnTo>
                    <a:pt x="243789" y="407670"/>
                  </a:lnTo>
                  <a:lnTo>
                    <a:pt x="237985" y="412750"/>
                  </a:lnTo>
                  <a:lnTo>
                    <a:pt x="231254" y="416560"/>
                  </a:lnTo>
                  <a:lnTo>
                    <a:pt x="231254" y="386080"/>
                  </a:lnTo>
                  <a:lnTo>
                    <a:pt x="242481" y="388620"/>
                  </a:lnTo>
                  <a:lnTo>
                    <a:pt x="251498" y="391160"/>
                  </a:lnTo>
                  <a:lnTo>
                    <a:pt x="251498" y="377075"/>
                  </a:lnTo>
                  <a:lnTo>
                    <a:pt x="245643" y="375920"/>
                  </a:lnTo>
                  <a:lnTo>
                    <a:pt x="239204" y="373380"/>
                  </a:lnTo>
                  <a:lnTo>
                    <a:pt x="232829" y="372110"/>
                  </a:lnTo>
                  <a:lnTo>
                    <a:pt x="226542" y="369570"/>
                  </a:lnTo>
                  <a:lnTo>
                    <a:pt x="218478" y="368541"/>
                  </a:lnTo>
                  <a:lnTo>
                    <a:pt x="218478" y="382270"/>
                  </a:lnTo>
                  <a:lnTo>
                    <a:pt x="218478" y="506730"/>
                  </a:lnTo>
                  <a:lnTo>
                    <a:pt x="215353" y="523240"/>
                  </a:lnTo>
                  <a:lnTo>
                    <a:pt x="206870" y="534670"/>
                  </a:lnTo>
                  <a:lnTo>
                    <a:pt x="194271" y="543560"/>
                  </a:lnTo>
                  <a:lnTo>
                    <a:pt x="178879" y="547370"/>
                  </a:lnTo>
                  <a:lnTo>
                    <a:pt x="171081" y="546100"/>
                  </a:lnTo>
                  <a:lnTo>
                    <a:pt x="140042" y="515620"/>
                  </a:lnTo>
                  <a:lnTo>
                    <a:pt x="139280" y="506730"/>
                  </a:lnTo>
                  <a:lnTo>
                    <a:pt x="139280" y="368300"/>
                  </a:lnTo>
                  <a:lnTo>
                    <a:pt x="172745" y="372110"/>
                  </a:lnTo>
                  <a:lnTo>
                    <a:pt x="183934" y="374650"/>
                  </a:lnTo>
                  <a:lnTo>
                    <a:pt x="192646" y="375920"/>
                  </a:lnTo>
                  <a:lnTo>
                    <a:pt x="201320" y="378460"/>
                  </a:lnTo>
                  <a:lnTo>
                    <a:pt x="209931" y="379730"/>
                  </a:lnTo>
                  <a:lnTo>
                    <a:pt x="218478" y="382270"/>
                  </a:lnTo>
                  <a:lnTo>
                    <a:pt x="218478" y="368541"/>
                  </a:lnTo>
                  <a:lnTo>
                    <a:pt x="216662" y="368300"/>
                  </a:lnTo>
                  <a:lnTo>
                    <a:pt x="196570" y="363220"/>
                  </a:lnTo>
                  <a:lnTo>
                    <a:pt x="186397" y="361950"/>
                  </a:lnTo>
                  <a:lnTo>
                    <a:pt x="159804" y="356870"/>
                  </a:lnTo>
                  <a:lnTo>
                    <a:pt x="133527" y="354330"/>
                  </a:lnTo>
                  <a:lnTo>
                    <a:pt x="128600" y="354330"/>
                  </a:lnTo>
                  <a:lnTo>
                    <a:pt x="118656" y="353060"/>
                  </a:lnTo>
                  <a:lnTo>
                    <a:pt x="118376" y="351790"/>
                  </a:lnTo>
                  <a:lnTo>
                    <a:pt x="107454" y="303530"/>
                  </a:lnTo>
                  <a:lnTo>
                    <a:pt x="107327" y="279400"/>
                  </a:lnTo>
                  <a:lnTo>
                    <a:pt x="107226" y="260350"/>
                  </a:lnTo>
                  <a:lnTo>
                    <a:pt x="112699" y="226060"/>
                  </a:lnTo>
                  <a:lnTo>
                    <a:pt x="118541" y="205740"/>
                  </a:lnTo>
                  <a:lnTo>
                    <a:pt x="134607" y="204470"/>
                  </a:lnTo>
                  <a:lnTo>
                    <a:pt x="150672" y="203200"/>
                  </a:lnTo>
                  <a:lnTo>
                    <a:pt x="190322" y="199390"/>
                  </a:lnTo>
                  <a:lnTo>
                    <a:pt x="235572" y="189230"/>
                  </a:lnTo>
                  <a:lnTo>
                    <a:pt x="284492" y="173990"/>
                  </a:lnTo>
                  <a:lnTo>
                    <a:pt x="335153" y="152400"/>
                  </a:lnTo>
                  <a:lnTo>
                    <a:pt x="385635" y="121920"/>
                  </a:lnTo>
                  <a:lnTo>
                    <a:pt x="434009" y="81280"/>
                  </a:lnTo>
                  <a:lnTo>
                    <a:pt x="420484" y="121920"/>
                  </a:lnTo>
                  <a:lnTo>
                    <a:pt x="410311" y="170180"/>
                  </a:lnTo>
                  <a:lnTo>
                    <a:pt x="403910" y="222250"/>
                  </a:lnTo>
                  <a:lnTo>
                    <a:pt x="401688" y="279400"/>
                  </a:lnTo>
                  <a:lnTo>
                    <a:pt x="403936" y="336550"/>
                  </a:lnTo>
                  <a:lnTo>
                    <a:pt x="410425" y="389890"/>
                  </a:lnTo>
                  <a:lnTo>
                    <a:pt x="420725" y="438150"/>
                  </a:lnTo>
                  <a:lnTo>
                    <a:pt x="434416" y="478790"/>
                  </a:lnTo>
                  <a:lnTo>
                    <a:pt x="434416" y="435178"/>
                  </a:lnTo>
                  <a:lnTo>
                    <a:pt x="428942" y="414020"/>
                  </a:lnTo>
                  <a:lnTo>
                    <a:pt x="502158" y="401320"/>
                  </a:lnTo>
                  <a:lnTo>
                    <a:pt x="552170" y="386080"/>
                  </a:lnTo>
                  <a:lnTo>
                    <a:pt x="576491" y="321310"/>
                  </a:lnTo>
                  <a:lnTo>
                    <a:pt x="579628" y="279400"/>
                  </a:lnTo>
                  <a:lnTo>
                    <a:pt x="579526" y="278130"/>
                  </a:lnTo>
                  <a:lnTo>
                    <a:pt x="576478" y="237490"/>
                  </a:lnTo>
                  <a:lnTo>
                    <a:pt x="567207" y="200660"/>
                  </a:lnTo>
                  <a:lnTo>
                    <a:pt x="566407" y="199263"/>
                  </a:lnTo>
                  <a:lnTo>
                    <a:pt x="566407" y="279400"/>
                  </a:lnTo>
                  <a:lnTo>
                    <a:pt x="563194" y="321310"/>
                  </a:lnTo>
                  <a:lnTo>
                    <a:pt x="554850" y="354330"/>
                  </a:lnTo>
                  <a:lnTo>
                    <a:pt x="543318" y="375920"/>
                  </a:lnTo>
                  <a:lnTo>
                    <a:pt x="530580" y="383540"/>
                  </a:lnTo>
                  <a:lnTo>
                    <a:pt x="517829" y="375920"/>
                  </a:lnTo>
                  <a:lnTo>
                    <a:pt x="510095" y="361429"/>
                  </a:lnTo>
                  <a:lnTo>
                    <a:pt x="510095" y="386080"/>
                  </a:lnTo>
                  <a:lnTo>
                    <a:pt x="426250" y="401320"/>
                  </a:lnTo>
                  <a:lnTo>
                    <a:pt x="421424" y="373380"/>
                  </a:lnTo>
                  <a:lnTo>
                    <a:pt x="417868" y="342900"/>
                  </a:lnTo>
                  <a:lnTo>
                    <a:pt x="417779" y="341630"/>
                  </a:lnTo>
                  <a:lnTo>
                    <a:pt x="417677" y="340360"/>
                  </a:lnTo>
                  <a:lnTo>
                    <a:pt x="415658" y="312420"/>
                  </a:lnTo>
                  <a:lnTo>
                    <a:pt x="415594" y="309880"/>
                  </a:lnTo>
                  <a:lnTo>
                    <a:pt x="415480" y="304800"/>
                  </a:lnTo>
                  <a:lnTo>
                    <a:pt x="415417" y="302260"/>
                  </a:lnTo>
                  <a:lnTo>
                    <a:pt x="414896" y="279400"/>
                  </a:lnTo>
                  <a:lnTo>
                    <a:pt x="414921" y="278130"/>
                  </a:lnTo>
                  <a:lnTo>
                    <a:pt x="415556" y="250190"/>
                  </a:lnTo>
                  <a:lnTo>
                    <a:pt x="415671" y="247650"/>
                  </a:lnTo>
                  <a:lnTo>
                    <a:pt x="417601" y="218440"/>
                  </a:lnTo>
                  <a:lnTo>
                    <a:pt x="420852" y="190500"/>
                  </a:lnTo>
                  <a:lnTo>
                    <a:pt x="425259" y="162560"/>
                  </a:lnTo>
                  <a:lnTo>
                    <a:pt x="443649" y="166370"/>
                  </a:lnTo>
                  <a:lnTo>
                    <a:pt x="488518" y="171450"/>
                  </a:lnTo>
                  <a:lnTo>
                    <a:pt x="508850" y="173990"/>
                  </a:lnTo>
                  <a:lnTo>
                    <a:pt x="497052" y="193040"/>
                  </a:lnTo>
                  <a:lnTo>
                    <a:pt x="488492" y="218440"/>
                  </a:lnTo>
                  <a:lnTo>
                    <a:pt x="483285" y="247650"/>
                  </a:lnTo>
                  <a:lnTo>
                    <a:pt x="483222" y="248920"/>
                  </a:lnTo>
                  <a:lnTo>
                    <a:pt x="483146" y="250190"/>
                  </a:lnTo>
                  <a:lnTo>
                    <a:pt x="483374" y="311150"/>
                  </a:lnTo>
                  <a:lnTo>
                    <a:pt x="497751" y="368300"/>
                  </a:lnTo>
                  <a:lnTo>
                    <a:pt x="510095" y="386080"/>
                  </a:lnTo>
                  <a:lnTo>
                    <a:pt x="510095" y="361429"/>
                  </a:lnTo>
                  <a:lnTo>
                    <a:pt x="506310" y="354330"/>
                  </a:lnTo>
                  <a:lnTo>
                    <a:pt x="497967" y="321310"/>
                  </a:lnTo>
                  <a:lnTo>
                    <a:pt x="494741" y="279400"/>
                  </a:lnTo>
                  <a:lnTo>
                    <a:pt x="494842" y="278130"/>
                  </a:lnTo>
                  <a:lnTo>
                    <a:pt x="497967" y="237490"/>
                  </a:lnTo>
                  <a:lnTo>
                    <a:pt x="506310" y="204470"/>
                  </a:lnTo>
                  <a:lnTo>
                    <a:pt x="517829" y="184150"/>
                  </a:lnTo>
                  <a:lnTo>
                    <a:pt x="530580" y="176530"/>
                  </a:lnTo>
                  <a:lnTo>
                    <a:pt x="543318" y="184150"/>
                  </a:lnTo>
                  <a:lnTo>
                    <a:pt x="554850" y="204470"/>
                  </a:lnTo>
                  <a:lnTo>
                    <a:pt x="563194" y="237490"/>
                  </a:lnTo>
                  <a:lnTo>
                    <a:pt x="566407" y="279400"/>
                  </a:lnTo>
                  <a:lnTo>
                    <a:pt x="566407" y="199263"/>
                  </a:lnTo>
                  <a:lnTo>
                    <a:pt x="553491" y="176530"/>
                  </a:lnTo>
                  <a:lnTo>
                    <a:pt x="552056" y="173990"/>
                  </a:lnTo>
                  <a:lnTo>
                    <a:pt x="531228" y="162560"/>
                  </a:lnTo>
                  <a:lnTo>
                    <a:pt x="518947" y="161290"/>
                  </a:lnTo>
                  <a:lnTo>
                    <a:pt x="490461" y="158750"/>
                  </a:lnTo>
                  <a:lnTo>
                    <a:pt x="456514" y="153670"/>
                  </a:lnTo>
                  <a:lnTo>
                    <a:pt x="427837" y="149860"/>
                  </a:lnTo>
                  <a:lnTo>
                    <a:pt x="443420" y="93980"/>
                  </a:lnTo>
                  <a:lnTo>
                    <a:pt x="449364" y="81280"/>
                  </a:lnTo>
                  <a:lnTo>
                    <a:pt x="463638" y="50800"/>
                  </a:lnTo>
                  <a:lnTo>
                    <a:pt x="487438" y="22860"/>
                  </a:lnTo>
                  <a:lnTo>
                    <a:pt x="513740" y="12700"/>
                  </a:lnTo>
                  <a:lnTo>
                    <a:pt x="539661" y="22860"/>
                  </a:lnTo>
                  <a:lnTo>
                    <a:pt x="583260" y="91440"/>
                  </a:lnTo>
                  <a:lnTo>
                    <a:pt x="598868" y="146050"/>
                  </a:lnTo>
                  <a:lnTo>
                    <a:pt x="608990" y="209550"/>
                  </a:lnTo>
                  <a:lnTo>
                    <a:pt x="612584" y="279400"/>
                  </a:lnTo>
                  <a:lnTo>
                    <a:pt x="612584" y="147015"/>
                  </a:lnTo>
                  <a:lnTo>
                    <a:pt x="601484" y="102870"/>
                  </a:lnTo>
                  <a:lnTo>
                    <a:pt x="584225" y="59690"/>
                  </a:lnTo>
                  <a:lnTo>
                    <a:pt x="546709" y="12700"/>
                  </a:lnTo>
                  <a:lnTo>
                    <a:pt x="513740" y="0"/>
                  </a:lnTo>
                  <a:lnTo>
                    <a:pt x="500392" y="1270"/>
                  </a:lnTo>
                  <a:lnTo>
                    <a:pt x="487565" y="6350"/>
                  </a:lnTo>
                  <a:lnTo>
                    <a:pt x="475310" y="15240"/>
                  </a:lnTo>
                  <a:lnTo>
                    <a:pt x="463715" y="27940"/>
                  </a:lnTo>
                  <a:lnTo>
                    <a:pt x="463270" y="27940"/>
                  </a:lnTo>
                  <a:lnTo>
                    <a:pt x="419493" y="76200"/>
                  </a:lnTo>
                  <a:lnTo>
                    <a:pt x="371932" y="115570"/>
                  </a:lnTo>
                  <a:lnTo>
                    <a:pt x="322491" y="143510"/>
                  </a:lnTo>
                  <a:lnTo>
                    <a:pt x="273088" y="165100"/>
                  </a:lnTo>
                  <a:lnTo>
                    <a:pt x="225628" y="179070"/>
                  </a:lnTo>
                  <a:lnTo>
                    <a:pt x="182029" y="186690"/>
                  </a:lnTo>
                  <a:lnTo>
                    <a:pt x="114096" y="191770"/>
                  </a:lnTo>
                  <a:lnTo>
                    <a:pt x="104978" y="191770"/>
                  </a:lnTo>
                  <a:lnTo>
                    <a:pt x="104978" y="205740"/>
                  </a:lnTo>
                  <a:lnTo>
                    <a:pt x="98818" y="228600"/>
                  </a:lnTo>
                  <a:lnTo>
                    <a:pt x="93967" y="262890"/>
                  </a:lnTo>
                  <a:lnTo>
                    <a:pt x="93980" y="264160"/>
                  </a:lnTo>
                  <a:lnTo>
                    <a:pt x="94576" y="304800"/>
                  </a:lnTo>
                  <a:lnTo>
                    <a:pt x="104813" y="351790"/>
                  </a:lnTo>
                  <a:lnTo>
                    <a:pt x="82880" y="351790"/>
                  </a:lnTo>
                  <a:lnTo>
                    <a:pt x="82308" y="349250"/>
                  </a:lnTo>
                  <a:lnTo>
                    <a:pt x="71945" y="303530"/>
                  </a:lnTo>
                  <a:lnTo>
                    <a:pt x="71818" y="260350"/>
                  </a:lnTo>
                  <a:lnTo>
                    <a:pt x="77254" y="226060"/>
                  </a:lnTo>
                  <a:lnTo>
                    <a:pt x="82321" y="207010"/>
                  </a:lnTo>
                  <a:lnTo>
                    <a:pt x="82994" y="204470"/>
                  </a:lnTo>
                  <a:lnTo>
                    <a:pt x="86448" y="204470"/>
                  </a:lnTo>
                  <a:lnTo>
                    <a:pt x="93573" y="205740"/>
                  </a:lnTo>
                  <a:lnTo>
                    <a:pt x="104978" y="205740"/>
                  </a:lnTo>
                  <a:lnTo>
                    <a:pt x="104978" y="191770"/>
                  </a:lnTo>
                  <a:lnTo>
                    <a:pt x="77889" y="191770"/>
                  </a:lnTo>
                  <a:lnTo>
                    <a:pt x="68935" y="193319"/>
                  </a:lnTo>
                  <a:lnTo>
                    <a:pt x="68935" y="207010"/>
                  </a:lnTo>
                  <a:lnTo>
                    <a:pt x="63017" y="229870"/>
                  </a:lnTo>
                  <a:lnTo>
                    <a:pt x="58483" y="264160"/>
                  </a:lnTo>
                  <a:lnTo>
                    <a:pt x="59093" y="304800"/>
                  </a:lnTo>
                  <a:lnTo>
                    <a:pt x="68605" y="349250"/>
                  </a:lnTo>
                  <a:lnTo>
                    <a:pt x="46545" y="340360"/>
                  </a:lnTo>
                  <a:lnTo>
                    <a:pt x="28994" y="323850"/>
                  </a:lnTo>
                  <a:lnTo>
                    <a:pt x="17399" y="302260"/>
                  </a:lnTo>
                  <a:lnTo>
                    <a:pt x="13208" y="278130"/>
                  </a:lnTo>
                  <a:lnTo>
                    <a:pt x="14592" y="264160"/>
                  </a:lnTo>
                  <a:lnTo>
                    <a:pt x="34315" y="226060"/>
                  </a:lnTo>
                  <a:lnTo>
                    <a:pt x="68935" y="207010"/>
                  </a:lnTo>
                  <a:lnTo>
                    <a:pt x="68935" y="193319"/>
                  </a:lnTo>
                  <a:lnTo>
                    <a:pt x="24879" y="217170"/>
                  </a:lnTo>
                  <a:lnTo>
                    <a:pt x="1625" y="261620"/>
                  </a:lnTo>
                  <a:lnTo>
                    <a:pt x="1498" y="262890"/>
                  </a:lnTo>
                  <a:lnTo>
                    <a:pt x="1371" y="264160"/>
                  </a:lnTo>
                  <a:lnTo>
                    <a:pt x="6019" y="309880"/>
                  </a:lnTo>
                  <a:lnTo>
                    <a:pt x="47256" y="355600"/>
                  </a:lnTo>
                  <a:lnTo>
                    <a:pt x="77800" y="364490"/>
                  </a:lnTo>
                  <a:lnTo>
                    <a:pt x="92925" y="364490"/>
                  </a:lnTo>
                  <a:lnTo>
                    <a:pt x="101854" y="365760"/>
                  </a:lnTo>
                  <a:lnTo>
                    <a:pt x="117983" y="365760"/>
                  </a:lnTo>
                  <a:lnTo>
                    <a:pt x="126504" y="367030"/>
                  </a:lnTo>
                  <a:lnTo>
                    <a:pt x="126504" y="506730"/>
                  </a:lnTo>
                  <a:lnTo>
                    <a:pt x="127508" y="518160"/>
                  </a:lnTo>
                  <a:lnTo>
                    <a:pt x="149809" y="551180"/>
                  </a:lnTo>
                  <a:lnTo>
                    <a:pt x="178879" y="560070"/>
                  </a:lnTo>
                  <a:lnTo>
                    <a:pt x="199250" y="554990"/>
                  </a:lnTo>
                  <a:lnTo>
                    <a:pt x="211734" y="547370"/>
                  </a:lnTo>
                  <a:lnTo>
                    <a:pt x="215900" y="544830"/>
                  </a:lnTo>
                  <a:lnTo>
                    <a:pt x="227139" y="527050"/>
                  </a:lnTo>
                  <a:lnTo>
                    <a:pt x="231254" y="506730"/>
                  </a:lnTo>
                  <a:lnTo>
                    <a:pt x="231254" y="431800"/>
                  </a:lnTo>
                  <a:lnTo>
                    <a:pt x="242430" y="426720"/>
                  </a:lnTo>
                  <a:lnTo>
                    <a:pt x="251980" y="419100"/>
                  </a:lnTo>
                  <a:lnTo>
                    <a:pt x="253644" y="416560"/>
                  </a:lnTo>
                  <a:lnTo>
                    <a:pt x="259473" y="407670"/>
                  </a:lnTo>
                  <a:lnTo>
                    <a:pt x="311150" y="414020"/>
                  </a:lnTo>
                  <a:lnTo>
                    <a:pt x="353910" y="435610"/>
                  </a:lnTo>
                  <a:lnTo>
                    <a:pt x="392671" y="461010"/>
                  </a:lnTo>
                  <a:lnTo>
                    <a:pt x="427342" y="490220"/>
                  </a:lnTo>
                  <a:lnTo>
                    <a:pt x="457822" y="523240"/>
                  </a:lnTo>
                  <a:lnTo>
                    <a:pt x="461111" y="528320"/>
                  </a:lnTo>
                  <a:lnTo>
                    <a:pt x="463537" y="530860"/>
                  </a:lnTo>
                  <a:lnTo>
                    <a:pt x="466013" y="534670"/>
                  </a:lnTo>
                  <a:lnTo>
                    <a:pt x="466458" y="534670"/>
                  </a:lnTo>
                  <a:lnTo>
                    <a:pt x="477520" y="544830"/>
                  </a:lnTo>
                  <a:lnTo>
                    <a:pt x="489102" y="553720"/>
                  </a:lnTo>
                  <a:lnTo>
                    <a:pt x="501205" y="558800"/>
                  </a:lnTo>
                  <a:lnTo>
                    <a:pt x="513740" y="560070"/>
                  </a:lnTo>
                  <a:lnTo>
                    <a:pt x="539737" y="552450"/>
                  </a:lnTo>
                  <a:lnTo>
                    <a:pt x="547141" y="546100"/>
                  </a:lnTo>
                  <a:lnTo>
                    <a:pt x="563435" y="532130"/>
                  </a:lnTo>
                  <a:lnTo>
                    <a:pt x="584225" y="499110"/>
                  </a:lnTo>
                  <a:lnTo>
                    <a:pt x="601484" y="455930"/>
                  </a:lnTo>
                  <a:lnTo>
                    <a:pt x="614578" y="403860"/>
                  </a:lnTo>
                  <a:lnTo>
                    <a:pt x="622896" y="344170"/>
                  </a:lnTo>
                  <a:lnTo>
                    <a:pt x="622947" y="342900"/>
                  </a:lnTo>
                  <a:lnTo>
                    <a:pt x="623062" y="340360"/>
                  </a:lnTo>
                  <a:lnTo>
                    <a:pt x="625805" y="279400"/>
                  </a:lnTo>
                  <a:close/>
                </a:path>
                <a:path w="848359" h="560070">
                  <a:moveTo>
                    <a:pt x="847813" y="275399"/>
                  </a:moveTo>
                  <a:lnTo>
                    <a:pt x="844854" y="272440"/>
                  </a:lnTo>
                  <a:lnTo>
                    <a:pt x="693775" y="272440"/>
                  </a:lnTo>
                  <a:lnTo>
                    <a:pt x="690816" y="275399"/>
                  </a:lnTo>
                  <a:lnTo>
                    <a:pt x="690816" y="282702"/>
                  </a:lnTo>
                  <a:lnTo>
                    <a:pt x="693775" y="285648"/>
                  </a:lnTo>
                  <a:lnTo>
                    <a:pt x="841197" y="285648"/>
                  </a:lnTo>
                  <a:lnTo>
                    <a:pt x="844854" y="285648"/>
                  </a:lnTo>
                  <a:lnTo>
                    <a:pt x="847813" y="282702"/>
                  </a:lnTo>
                  <a:lnTo>
                    <a:pt x="847813" y="275399"/>
                  </a:lnTo>
                  <a:close/>
                </a:path>
              </a:pathLst>
            </a:custGeom>
            <a:solidFill>
              <a:srgbClr val="FFFFFF"/>
            </a:solidFill>
          </p:spPr>
          <p:txBody>
            <a:bodyPr wrap="square" lIns="0" tIns="0" rIns="0" bIns="0" rtlCol="0"/>
            <a:lstStyle/>
            <a:p>
              <a:endParaRPr dirty="0"/>
            </a:p>
          </p:txBody>
        </p:sp>
        <p:pic>
          <p:nvPicPr>
            <p:cNvPr id="22" name="object 22"/>
            <p:cNvPicPr/>
            <p:nvPr/>
          </p:nvPicPr>
          <p:blipFill>
            <a:blip r:embed="rId3" cstate="print"/>
            <a:stretch>
              <a:fillRect/>
            </a:stretch>
          </p:blipFill>
          <p:spPr>
            <a:xfrm>
              <a:off x="13586571" y="5905052"/>
              <a:ext cx="148297" cy="67970"/>
            </a:xfrm>
            <a:prstGeom prst="rect">
              <a:avLst/>
            </a:prstGeom>
          </p:spPr>
        </p:pic>
        <p:pic>
          <p:nvPicPr>
            <p:cNvPr id="23" name="object 23"/>
            <p:cNvPicPr/>
            <p:nvPr/>
          </p:nvPicPr>
          <p:blipFill>
            <a:blip r:embed="rId4" cstate="print"/>
            <a:stretch>
              <a:fillRect/>
            </a:stretch>
          </p:blipFill>
          <p:spPr>
            <a:xfrm>
              <a:off x="13587477" y="6206701"/>
              <a:ext cx="148297" cy="67960"/>
            </a:xfrm>
            <a:prstGeom prst="rect">
              <a:avLst/>
            </a:prstGeom>
          </p:spPr>
        </p:pic>
      </p:grpSp>
      <p:sp>
        <p:nvSpPr>
          <p:cNvPr id="28" name="Rectangle 2">
            <a:extLst>
              <a:ext uri="{FF2B5EF4-FFF2-40B4-BE49-F238E27FC236}">
                <a16:creationId xmlns:a16="http://schemas.microsoft.com/office/drawing/2014/main" id="{03463882-C424-46FD-EE77-2D2167C4321C}"/>
              </a:ext>
            </a:extLst>
          </p:cNvPr>
          <p:cNvSpPr>
            <a:spLocks noChangeArrowheads="1"/>
          </p:cNvSpPr>
          <p:nvPr/>
        </p:nvSpPr>
        <p:spPr bwMode="auto">
          <a:xfrm>
            <a:off x="1600200" y="2081399"/>
            <a:ext cx="13868399" cy="6986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sng" strike="noStrike" cap="none" normalizeH="0" baseline="0" dirty="0">
                <a:ln>
                  <a:noFill/>
                </a:ln>
                <a:solidFill>
                  <a:schemeClr val="tx1"/>
                </a:solidFill>
                <a:effectLst/>
                <a:latin typeface="Arial" panose="020B0604020202020204" pitchFamily="34" charset="0"/>
              </a:rPr>
              <a:t>https://www.researchgate.net/publication/386304850_Artificial_intelligence_for_deepfake_detection_systematic_review_and_impact_analysis/link/674cb404790d154bf9bb78eb/download?_tp=eyJjb250ZXh0Ijp7ImZpcnN0UGFnZSI6InB1YmxpY2F0aW9uIiwicGFnZSI6InB1YmxpY2F0aW9uIn19</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strike="noStrike" cap="none" normalizeH="0" baseline="0" dirty="0">
                <a:ln>
                  <a:noFill/>
                </a:ln>
                <a:solidFill>
                  <a:schemeClr val="tx1"/>
                </a:solidFill>
                <a:effectLst/>
                <a:latin typeface="Arial" panose="020B0604020202020204" pitchFamily="34" charset="0"/>
                <a:hlinkClick r:id="rId5"/>
              </a:rPr>
              <a:t> https://www.kaggle.com/c/deepfake-detection-challenge/data</a:t>
            </a:r>
            <a:endParaRPr kumimoji="0" lang="en-US" altLang="en-US" sz="2800" b="0" i="0"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strike="noStrike" cap="none" normalizeH="0" baseline="0" dirty="0">
                <a:ln>
                  <a:noFill/>
                </a:ln>
                <a:solidFill>
                  <a:schemeClr val="tx1"/>
                </a:solidFill>
                <a:effectLst/>
                <a:latin typeface="Arial" panose="020B0604020202020204" pitchFamily="34" charset="0"/>
                <a:hlinkClick r:id="rId6"/>
              </a:rPr>
              <a:t> https://www.ijnrd.org/papers/IJNRD2310407.pdf</a:t>
            </a:r>
            <a:endParaRPr kumimoji="0" lang="en-US" altLang="en-US" sz="2800" b="0" i="0" strike="noStrike" cap="none" normalizeH="0" baseline="0" dirty="0">
              <a:ln>
                <a:noFill/>
              </a:ln>
              <a:solidFill>
                <a:schemeClr val="tx1"/>
              </a:solidFill>
              <a:effectLst/>
              <a:latin typeface="Arial" panose="020B0604020202020204" pitchFamily="34" charset="0"/>
            </a:endParaRPr>
          </a:p>
          <a:p>
            <a:pPr algn="l" rtl="0" eaLnBrk="0" fontAlgn="base" hangingPunct="0">
              <a:spcBef>
                <a:spcPct val="0"/>
              </a:spcBef>
              <a:spcAft>
                <a:spcPct val="0"/>
              </a:spcAft>
              <a:buFontTx/>
              <a:buChar char="•"/>
            </a:pPr>
            <a:r>
              <a:rPr kumimoji="0" lang="en-US" altLang="en-US" sz="2800" b="0" i="0" u="sng" strike="noStrike" cap="none" normalizeH="0" baseline="0" dirty="0">
                <a:ln>
                  <a:noFill/>
                </a:ln>
                <a:solidFill>
                  <a:schemeClr val="tx1"/>
                </a:solidFill>
                <a:effectLst/>
                <a:latin typeface="Arial" panose="020B0604020202020204" pitchFamily="34" charset="0"/>
              </a:rPr>
              <a:t>https://www.researchgate.net/publication/390141504_Deepfake_and_Biometric_Spoofing_AIDriven_Identity_Fraud_and_Countermeasures/link/67e2104972f7f37c3e8ae823/download?_tp=eyJjb250ZXh0Ijp7ImZpcnN0UGFnZSI6InB1YmxpY2F0aW9uIiwicGFnZSI6InB1YmxpY2F0aW9uIn19</a:t>
            </a:r>
            <a:endParaRPr lang="en-US" altLang="en-US" sz="2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strike="noStrike" cap="none" normalizeH="0" baseline="0" dirty="0">
                <a:ln>
                  <a:noFill/>
                </a:ln>
                <a:solidFill>
                  <a:schemeClr val="tx1"/>
                </a:solidFill>
                <a:effectLst/>
                <a:latin typeface="Arial" panose="020B0604020202020204" pitchFamily="34" charset="0"/>
                <a:hlinkClick r:id="rId7"/>
              </a:rPr>
              <a:t>https://ceur-ws.org/Vol-3900/Paper9.pdf</a:t>
            </a:r>
            <a:endParaRPr lang="en-US" altLang="en-US" sz="2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sng" strike="noStrike" cap="none" normalizeH="0" baseline="0" dirty="0">
                <a:ln>
                  <a:noFill/>
                </a:ln>
                <a:solidFill>
                  <a:schemeClr val="tx1"/>
                </a:solidFill>
                <a:effectLst/>
                <a:latin typeface="Arial" panose="020B0604020202020204" pitchFamily="34" charset="0"/>
              </a:rPr>
              <a:t>https://scholar.google.co.in/scholar?q=ai+powered+deepfake+detection+liveness+detection+research+paper&amp;hl=en&amp;as_sdt=0&amp;as_vis=1&amp;oi=scholart#d=gs_qabs&amp;t=1747980296465&amp;u=%23p%3DKlVoxZwaWaoJ</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sng"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807</TotalTime>
  <Words>1263</Words>
  <Application>Microsoft Office PowerPoint</Application>
  <PresentationFormat>Custom</PresentationFormat>
  <Paragraphs>209</Paragraphs>
  <Slides>20</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Times New Roman</vt:lpstr>
      <vt:lpstr>Wingdings</vt:lpstr>
      <vt:lpstr>Office Theme</vt:lpstr>
      <vt:lpstr>PowerPoint Presentation</vt:lpstr>
      <vt:lpstr>PowerPoint Presentation</vt:lpstr>
      <vt:lpstr>ABSTRACT</vt:lpstr>
      <vt:lpstr>OBJECTIVES</vt:lpstr>
      <vt:lpstr>PROBLEM STATEMENT</vt:lpstr>
      <vt:lpstr>SCOPE OF PROJECT</vt:lpstr>
      <vt:lpstr>PowerPoint Presentation</vt:lpstr>
      <vt:lpstr>PowerPoint Presentation</vt:lpstr>
      <vt:lpstr>DESCRIPTION OF MODULES</vt:lpstr>
      <vt:lpstr>DATASET DISTRIBUTION:</vt:lpstr>
      <vt:lpstr>IMPLEMENTATION</vt:lpstr>
      <vt:lpstr>TESTING</vt:lpstr>
      <vt:lpstr>PowerPoint Presentation</vt:lpstr>
      <vt:lpstr>PowerPoint Presentation</vt:lpstr>
      <vt:lpstr>RESULT (SNAP SHOTS)</vt:lpstr>
      <vt:lpstr>PowerPoint Presentation</vt:lpstr>
      <vt:lpstr>PowerPoint Presentation</vt:lpstr>
      <vt:lpstr>PowerPoint Presentation</vt:lpstr>
      <vt:lpstr>PowerPoint Presentation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Neon Pink Bright Blue White Modular Abstract Business Case Study and Report Business Presentation</dc:title>
  <dc:creator>Pushpitha JR</dc:creator>
  <cp:keywords>DAGoC75KjPk,BAGIl1vqpbw,0</cp:keywords>
  <cp:lastModifiedBy>chetana HK</cp:lastModifiedBy>
  <cp:revision>31</cp:revision>
  <dcterms:created xsi:type="dcterms:W3CDTF">2025-05-21T03:46:31Z</dcterms:created>
  <dcterms:modified xsi:type="dcterms:W3CDTF">2026-01-09T05:35:52Z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2025-05-21T00:00:00Z</vt:filetime>
  </property>
  <property fmtid="{D5CDD505-2E9C-101B-9397-08002B2CF9AE}" pid="3" name="Creator">
    <vt:lpwstr>Canva</vt:lpwstr>
  </property>
  <property fmtid="{D5CDD505-2E9C-101B-9397-08002B2CF9AE}" pid="4" name="LastSaved">
    <vt:filetime>2025-05-21T00:00:00Z</vt:filetime>
  </property>
  <property fmtid="{D5CDD505-2E9C-101B-9397-08002B2CF9AE}" pid="5" name="Producer">
    <vt:lpwstr>Canva</vt:lpwstr>
  </property>
</Properties>
</file>