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07" r:id="rId2"/>
    <p:sldId id="257" r:id="rId3"/>
    <p:sldId id="259" r:id="rId4"/>
    <p:sldId id="265" r:id="rId5"/>
    <p:sldId id="263" r:id="rId6"/>
    <p:sldId id="270" r:id="rId7"/>
    <p:sldId id="308" r:id="rId8"/>
    <p:sldId id="311" r:id="rId9"/>
    <p:sldId id="310" r:id="rId10"/>
    <p:sldId id="321" r:id="rId11"/>
    <p:sldId id="322" r:id="rId12"/>
    <p:sldId id="323" r:id="rId13"/>
    <p:sldId id="325" r:id="rId14"/>
    <p:sldId id="326" r:id="rId15"/>
    <p:sldId id="327" r:id="rId16"/>
    <p:sldId id="329" r:id="rId17"/>
    <p:sldId id="330" r:id="rId18"/>
    <p:sldId id="331" r:id="rId19"/>
    <p:sldId id="332" r:id="rId20"/>
    <p:sldId id="269" r:id="rId21"/>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72" d="100"/>
          <a:sy n="72" d="100"/>
        </p:scale>
        <p:origin x="65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D854FC1D-031C-41AD-81A5-CEF4B902753D}" type="datetimeFigureOut">
              <a:rPr lang="en-US" smtClean="0"/>
              <a:t>12/2/2025</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BC3060DB-4493-4B44-995B-2B37A98D7505}" type="slidenum">
              <a:rPr lang="en-US" smtClean="0"/>
              <a:t>‹#›</a:t>
            </a:fld>
            <a:endParaRPr lang="en-US"/>
          </a:p>
        </p:txBody>
      </p:sp>
    </p:spTree>
    <p:extLst>
      <p:ext uri="{BB962C8B-B14F-4D97-AF65-F5344CB8AC3E}">
        <p14:creationId xmlns:p14="http://schemas.microsoft.com/office/powerpoint/2010/main" val="45892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060DB-4493-4B44-995B-2B37A98D7505}" type="slidenum">
              <a:rPr lang="en-US" smtClean="0"/>
              <a:t>3</a:t>
            </a:fld>
            <a:endParaRPr lang="en-US"/>
          </a:p>
        </p:txBody>
      </p:sp>
    </p:spTree>
    <p:extLst>
      <p:ext uri="{BB962C8B-B14F-4D97-AF65-F5344CB8AC3E}">
        <p14:creationId xmlns:p14="http://schemas.microsoft.com/office/powerpoint/2010/main" val="2751765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060DB-4493-4B44-995B-2B37A98D7505}" type="slidenum">
              <a:rPr lang="en-US" smtClean="0"/>
              <a:t>20</a:t>
            </a:fld>
            <a:endParaRPr lang="en-US"/>
          </a:p>
        </p:txBody>
      </p:sp>
    </p:spTree>
    <p:extLst>
      <p:ext uri="{BB962C8B-B14F-4D97-AF65-F5344CB8AC3E}">
        <p14:creationId xmlns:p14="http://schemas.microsoft.com/office/powerpoint/2010/main" val="172937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494956"/>
            <a:ext cx="13716000" cy="2769989"/>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553998"/>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914400" y="9566910"/>
            <a:ext cx="4206240" cy="276999"/>
          </a:xfrm>
        </p:spPr>
        <p:txBody>
          <a:bodyPr/>
          <a:lstStyle/>
          <a:p>
            <a:fld id="{4EF2C784-923F-4967-831D-414454348EF0}" type="datetimeFigureOut">
              <a:rPr lang="en-IN" smtClean="0"/>
              <a:t>02-12-2025</a:t>
            </a:fld>
            <a:endParaRPr lang="en-IN"/>
          </a:p>
        </p:txBody>
      </p:sp>
      <p:sp>
        <p:nvSpPr>
          <p:cNvPr id="5" name="Footer Placeholder 4"/>
          <p:cNvSpPr>
            <a:spLocks noGrp="1"/>
          </p:cNvSpPr>
          <p:nvPr>
            <p:ph type="ftr" sz="quarter" idx="11"/>
          </p:nvPr>
        </p:nvSpPr>
        <p:spPr>
          <a:xfrm>
            <a:off x="6217920" y="9566910"/>
            <a:ext cx="5852160" cy="276999"/>
          </a:xfrm>
        </p:spPr>
        <p:txBody>
          <a:bodyPr/>
          <a:lstStyle/>
          <a:p>
            <a:endParaRPr lang="en-IN"/>
          </a:p>
        </p:txBody>
      </p:sp>
      <p:sp>
        <p:nvSpPr>
          <p:cNvPr id="6" name="Slide Number Placeholder 5"/>
          <p:cNvSpPr>
            <a:spLocks noGrp="1"/>
          </p:cNvSpPr>
          <p:nvPr>
            <p:ph type="sldNum" sz="quarter" idx="12"/>
          </p:nvPr>
        </p:nvSpPr>
        <p:spPr>
          <a:xfrm>
            <a:off x="13167361" y="9566910"/>
            <a:ext cx="4206240" cy="276999"/>
          </a:xfrm>
        </p:spPr>
        <p:txBody>
          <a:bodyPr/>
          <a:lstStyle/>
          <a:p>
            <a:fld id="{9872ED4D-6F54-4661-8AE5-46454C040F0C}" type="slidenum">
              <a:rPr lang="en-IN" smtClean="0"/>
              <a:t>‹#›</a:t>
            </a:fld>
            <a:endParaRPr lang="en-IN"/>
          </a:p>
        </p:txBody>
      </p:sp>
    </p:spTree>
    <p:extLst>
      <p:ext uri="{BB962C8B-B14F-4D97-AF65-F5344CB8AC3E}">
        <p14:creationId xmlns:p14="http://schemas.microsoft.com/office/powerpoint/2010/main" val="536553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07943" y="2940050"/>
            <a:ext cx="6872113" cy="139700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08064" y="2676757"/>
            <a:ext cx="16051242" cy="5892701"/>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ceur-ws.org/Vol-3900/Paper9.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ijnrd.org/papers/IJNRD2310407.pdf" TargetMode="External"/><Relationship Id="rId5" Type="http://schemas.openxmlformats.org/officeDocument/2006/relationships/hyperlink" Target="https://www.kaggle.com/c/deepfake-detection-challenge/data" TargetMode="Externa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p:cNvPicPr>
          <p:nvPr/>
        </p:nvPicPr>
        <p:blipFill>
          <a:blip r:embed="rId2"/>
          <a:stretch>
            <a:fillRect/>
          </a:stretch>
        </p:blipFill>
        <p:spPr>
          <a:xfrm>
            <a:off x="4300153" y="362509"/>
            <a:ext cx="10541594" cy="1457711"/>
          </a:xfrm>
          <a:prstGeom prst="rect">
            <a:avLst/>
          </a:prstGeom>
        </p:spPr>
      </p:pic>
      <p:pic>
        <p:nvPicPr>
          <p:cNvPr id="2097154" name="Picture 6"/>
          <p:cNvPicPr>
            <a:picLocks noChangeAspect="1"/>
          </p:cNvPicPr>
          <p:nvPr/>
        </p:nvPicPr>
        <p:blipFill>
          <a:blip r:embed="rId3"/>
          <a:stretch>
            <a:fillRect/>
          </a:stretch>
        </p:blipFill>
        <p:spPr>
          <a:xfrm>
            <a:off x="331124" y="257765"/>
            <a:ext cx="3299490" cy="1662825"/>
          </a:xfrm>
          <a:prstGeom prst="rect">
            <a:avLst/>
          </a:prstGeom>
        </p:spPr>
      </p:pic>
      <p:sp>
        <p:nvSpPr>
          <p:cNvPr id="1048616" name="TextBox 9"/>
          <p:cNvSpPr txBox="1"/>
          <p:nvPr/>
        </p:nvSpPr>
        <p:spPr>
          <a:xfrm>
            <a:off x="1196647" y="1826438"/>
            <a:ext cx="1634274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Department of Computer Science Engineering-Data Science</a:t>
            </a:r>
          </a:p>
        </p:txBody>
      </p:sp>
      <p:sp>
        <p:nvSpPr>
          <p:cNvPr id="1048621" name="Rectangle 15"/>
          <p:cNvSpPr/>
          <p:nvPr/>
        </p:nvSpPr>
        <p:spPr>
          <a:xfrm>
            <a:off x="7072501" y="8275896"/>
            <a:ext cx="4142997" cy="461665"/>
          </a:xfrm>
          <a:prstGeom prst="rect">
            <a:avLst/>
          </a:prstGeom>
        </p:spPr>
        <p:txBody>
          <a:bodyPr wrap="square">
            <a:spAutoFit/>
          </a:bodyPr>
          <a:lstStyle/>
          <a:p>
            <a:pPr algn="ctr"/>
            <a:r>
              <a:rPr lang="en-US" sz="24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 the Guidance of </a:t>
            </a:r>
            <a:endParaRPr lang="en-US" sz="2400" b="1" u="sng" dirty="0">
              <a:latin typeface="Times New Roman" panose="02020603050405020304" pitchFamily="18" charset="0"/>
              <a:cs typeface="Times New Roman" panose="02020603050405020304" pitchFamily="18" charset="0"/>
            </a:endParaRPr>
          </a:p>
        </p:txBody>
      </p:sp>
      <p:sp>
        <p:nvSpPr>
          <p:cNvPr id="1048622" name="Rectangle 17"/>
          <p:cNvSpPr/>
          <p:nvPr/>
        </p:nvSpPr>
        <p:spPr>
          <a:xfrm>
            <a:off x="6146457" y="8767644"/>
            <a:ext cx="5835476"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Jagadish R.M</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Project Coordinator</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sp>
        <p:nvSpPr>
          <p:cNvPr id="1048623" name="Rectangle 16"/>
          <p:cNvSpPr/>
          <p:nvPr/>
        </p:nvSpPr>
        <p:spPr>
          <a:xfrm>
            <a:off x="11829115" y="8706382"/>
            <a:ext cx="5079692"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D. Aradhana</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Head of the Department </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pic>
        <p:nvPicPr>
          <p:cNvPr id="2097155" name="Picture 7"/>
          <p:cNvPicPr>
            <a:picLocks noChangeAspect="1"/>
          </p:cNvPicPr>
          <p:nvPr/>
        </p:nvPicPr>
        <p:blipFill rotWithShape="1">
          <a:blip r:embed="rId4"/>
          <a:srcRect l="6737" t="9425" r="9081" b="14499"/>
          <a:stretch>
            <a:fillRect/>
          </a:stretch>
        </p:blipFill>
        <p:spPr>
          <a:xfrm>
            <a:off x="15105419" y="65196"/>
            <a:ext cx="2954972" cy="2000250"/>
          </a:xfrm>
          <a:prstGeom prst="rect">
            <a:avLst/>
          </a:prstGeom>
        </p:spPr>
      </p:pic>
      <p:sp>
        <p:nvSpPr>
          <p:cNvPr id="2" name="TextBox 1"/>
          <p:cNvSpPr txBox="1"/>
          <p:nvPr/>
        </p:nvSpPr>
        <p:spPr>
          <a:xfrm>
            <a:off x="4038600" y="2822485"/>
            <a:ext cx="9532535" cy="2862322"/>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A  Major-Project Phase-2 Presentation </a:t>
            </a:r>
          </a:p>
          <a:p>
            <a:pPr algn="ctr"/>
            <a:r>
              <a:rPr lang="en-US" sz="2800" dirty="0">
                <a:latin typeface="Times New Roman" panose="02020603050405020304" pitchFamily="18" charset="0"/>
                <a:cs typeface="Times New Roman" panose="02020603050405020304" pitchFamily="18" charset="0"/>
              </a:rPr>
              <a:t>on</a:t>
            </a:r>
          </a:p>
          <a:p>
            <a:pPr algn="ctr"/>
            <a:r>
              <a:rPr lang="en-US" sz="4400" dirty="0">
                <a:solidFill>
                  <a:schemeClr val="accent5">
                    <a:lumMod val="75000"/>
                  </a:schemeClr>
                </a:solidFill>
                <a:latin typeface="Times New Roman" panose="02020603050405020304" pitchFamily="18" charset="0"/>
                <a:cs typeface="Times New Roman" panose="02020603050405020304" pitchFamily="18" charset="0"/>
              </a:rPr>
              <a:t>“</a:t>
            </a:r>
            <a:r>
              <a:rPr lang="en-US" sz="4400" b="1" dirty="0">
                <a:solidFill>
                  <a:schemeClr val="accent5">
                    <a:lumMod val="75000"/>
                  </a:schemeClr>
                </a:solidFill>
                <a:latin typeface="Times New Roman" panose="02020603050405020304" pitchFamily="18" charset="0"/>
                <a:cs typeface="Times New Roman" panose="02020603050405020304" pitchFamily="18" charset="0"/>
              </a:rPr>
              <a:t>AI Powered Deepfake Detection:</a:t>
            </a:r>
            <a:r>
              <a:rPr lang="en-US" sz="4400" dirty="0">
                <a:solidFill>
                  <a:schemeClr val="accent5">
                    <a:lumMod val="75000"/>
                  </a:schemeClr>
                </a:solidFill>
                <a:latin typeface="Times New Roman" panose="02020603050405020304" pitchFamily="18" charset="0"/>
                <a:cs typeface="Times New Roman" panose="02020603050405020304" pitchFamily="18" charset="0"/>
              </a:rPr>
              <a:t> Liveliness Detection</a:t>
            </a:r>
            <a:r>
              <a:rPr lang="en-US" sz="4400" dirty="0">
                <a:latin typeface="Times New Roman" panose="02020603050405020304" pitchFamily="18" charset="0"/>
                <a:cs typeface="Times New Roman" panose="02020603050405020304" pitchFamily="18" charset="0"/>
              </a:rPr>
              <a:t>”</a:t>
            </a:r>
          </a:p>
          <a:p>
            <a:pPr algn="ctr"/>
            <a:endParaRPr lang="en-IN" sz="3600" dirty="0">
              <a:solidFill>
                <a:schemeClr val="bg2"/>
              </a:solidFill>
              <a:latin typeface="Times New Roman" panose="02020603050405020304" pitchFamily="18" charset="0"/>
              <a:cs typeface="Times New Roman" panose="02020603050405020304" pitchFamily="18" charset="0"/>
            </a:endParaRPr>
          </a:p>
        </p:txBody>
      </p:sp>
      <p:sp>
        <p:nvSpPr>
          <p:cNvPr id="3" name="Rectangle 12">
            <a:extLst>
              <a:ext uri="{FF2B5EF4-FFF2-40B4-BE49-F238E27FC236}">
                <a16:creationId xmlns:a16="http://schemas.microsoft.com/office/drawing/2014/main" id="{04CEB389-BE77-8CBC-B2A2-BCEDC0A03D1D}"/>
              </a:ext>
            </a:extLst>
          </p:cNvPr>
          <p:cNvSpPr/>
          <p:nvPr/>
        </p:nvSpPr>
        <p:spPr>
          <a:xfrm>
            <a:off x="3978638" y="5789123"/>
            <a:ext cx="10171114" cy="461665"/>
          </a:xfrm>
          <a:prstGeom prst="rect">
            <a:avLst/>
          </a:prstGeom>
        </p:spPr>
        <p:txBody>
          <a:bodyPr wrap="square">
            <a:spAutoFit/>
          </a:bodyPr>
          <a:lstStyle/>
          <a:p>
            <a:pPr algn="ct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u="sng" dirty="0">
                <a:latin typeface="Times New Roman" panose="02020603050405020304" pitchFamily="18" charset="0"/>
                <a:ea typeface="Calibri" panose="020F0502020204030204" pitchFamily="34" charset="0"/>
                <a:cs typeface="Times New Roman" panose="02020603050405020304" pitchFamily="18" charset="0"/>
              </a:rPr>
              <a:t>Presented by</a:t>
            </a:r>
            <a:r>
              <a:rPr lang="en-US" sz="2400" dirty="0">
                <a:latin typeface="Times New Roman" panose="02020603050405020304" pitchFamily="18" charset="0"/>
                <a:cs typeface="Times New Roman" panose="02020603050405020304" pitchFamily="18" charset="0"/>
              </a:rPr>
              <a:t>                                   </a:t>
            </a:r>
            <a:r>
              <a:rPr lang="en-US" sz="2400" dirty="0">
                <a:latin typeface="Arial" panose="020B0604020202020204" pitchFamily="34" charset="0"/>
                <a:ea typeface="Calibri" panose="020F050202020403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C808EB91-3DB7-A7B4-8B05-F25FF1B805C0}"/>
              </a:ext>
            </a:extLst>
          </p:cNvPr>
          <p:cNvGraphicFramePr>
            <a:graphicFrameLocks noGrp="1"/>
          </p:cNvGraphicFramePr>
          <p:nvPr>
            <p:extLst>
              <p:ext uri="{D42A27DB-BD31-4B8C-83A1-F6EECF244321}">
                <p14:modId xmlns:p14="http://schemas.microsoft.com/office/powerpoint/2010/main" val="1129706774"/>
              </p:ext>
            </p:extLst>
          </p:nvPr>
        </p:nvGraphicFramePr>
        <p:xfrm>
          <a:off x="6476999" y="6361918"/>
          <a:ext cx="5334000" cy="1584960"/>
        </p:xfrm>
        <a:graphic>
          <a:graphicData uri="http://schemas.openxmlformats.org/drawingml/2006/table">
            <a:tbl>
              <a:tblPr firstRow="1" bandRow="1">
                <a:tableStyleId>{2D5ABB26-0587-4C30-8999-92F81FD0307C}</a:tableStyleId>
              </a:tblPr>
              <a:tblGrid>
                <a:gridCol w="2667000">
                  <a:extLst>
                    <a:ext uri="{9D8B030D-6E8A-4147-A177-3AD203B41FA5}">
                      <a16:colId xmlns:a16="http://schemas.microsoft.com/office/drawing/2014/main" val="3343895659"/>
                    </a:ext>
                  </a:extLst>
                </a:gridCol>
                <a:gridCol w="2667000">
                  <a:extLst>
                    <a:ext uri="{9D8B030D-6E8A-4147-A177-3AD203B41FA5}">
                      <a16:colId xmlns:a16="http://schemas.microsoft.com/office/drawing/2014/main" val="2051304188"/>
                    </a:ext>
                  </a:extLst>
                </a:gridCol>
              </a:tblGrid>
              <a:tr h="370840">
                <a:tc>
                  <a:txBody>
                    <a:bodyPr/>
                    <a:lstStyle/>
                    <a:p>
                      <a:pPr algn="ctr"/>
                      <a:r>
                        <a:rPr lang="en-IN" sz="2000" b="1" dirty="0">
                          <a:latin typeface="Times New Roman" panose="02020603050405020304" pitchFamily="18" charset="0"/>
                          <a:cs typeface="Times New Roman" panose="02020603050405020304" pitchFamily="18" charset="0"/>
                        </a:rPr>
                        <a:t>Chetana H K</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3BR22CD007</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1178101"/>
                  </a:ext>
                </a:extLst>
              </a:tr>
              <a:tr h="370840">
                <a:tc>
                  <a:txBody>
                    <a:bodyPr/>
                    <a:lstStyle/>
                    <a:p>
                      <a:pPr algn="ctr"/>
                      <a:r>
                        <a:rPr lang="en-IN" sz="2000" b="1" dirty="0">
                          <a:latin typeface="Times New Roman" panose="02020603050405020304" pitchFamily="18" charset="0"/>
                          <a:cs typeface="Times New Roman" panose="02020603050405020304" pitchFamily="18" charset="0"/>
                        </a:rPr>
                        <a:t>K Shashikala</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3BR22CD023</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3561552"/>
                  </a:ext>
                </a:extLst>
              </a:tr>
              <a:tr h="370840">
                <a:tc>
                  <a:txBody>
                    <a:bodyPr/>
                    <a:lstStyle/>
                    <a:p>
                      <a:pPr algn="ctr"/>
                      <a:r>
                        <a:rPr lang="en-IN" sz="2000" b="1" dirty="0">
                          <a:latin typeface="Times New Roman" panose="02020603050405020304" pitchFamily="18" charset="0"/>
                          <a:cs typeface="Times New Roman" panose="02020603050405020304" pitchFamily="18" charset="0"/>
                        </a:rPr>
                        <a:t>Mounika M</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3BR22CD039</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5807040"/>
                  </a:ext>
                </a:extLst>
              </a:tr>
              <a:tr h="370840">
                <a:tc>
                  <a:txBody>
                    <a:bodyPr/>
                    <a:lstStyle/>
                    <a:p>
                      <a:pPr algn="ctr"/>
                      <a:r>
                        <a:rPr lang="en-IN" sz="2000" b="1" dirty="0">
                          <a:latin typeface="Times New Roman" panose="02020603050405020304" pitchFamily="18" charset="0"/>
                          <a:cs typeface="Times New Roman" panose="02020603050405020304" pitchFamily="18" charset="0"/>
                        </a:rPr>
                        <a:t>Pushpitha J R</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3BR22CD046</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9588464"/>
                  </a:ext>
                </a:extLst>
              </a:tr>
            </a:tbl>
          </a:graphicData>
        </a:graphic>
      </p:graphicFrame>
      <p:sp>
        <p:nvSpPr>
          <p:cNvPr id="5" name="Rectangle 17">
            <a:extLst>
              <a:ext uri="{FF2B5EF4-FFF2-40B4-BE49-F238E27FC236}">
                <a16:creationId xmlns:a16="http://schemas.microsoft.com/office/drawing/2014/main" id="{0EAB4329-889E-1208-D7F5-FA8384D9E230}"/>
              </a:ext>
            </a:extLst>
          </p:cNvPr>
          <p:cNvSpPr/>
          <p:nvPr/>
        </p:nvSpPr>
        <p:spPr>
          <a:xfrm>
            <a:off x="914400" y="8828906"/>
            <a:ext cx="5835476"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Jagadish R.M</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Project Guide</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object 19"/>
          <p:cNvSpPr txBox="1"/>
          <p:nvPr/>
        </p:nvSpPr>
        <p:spPr>
          <a:xfrm>
            <a:off x="910666" y="176206"/>
            <a:ext cx="15243733" cy="1243930"/>
          </a:xfrm>
          <a:prstGeom prst="rect">
            <a:avLst/>
          </a:prstGeom>
        </p:spPr>
        <p:txBody>
          <a:bodyPr vert="horz" wrap="square" lIns="0" tIns="12700" rIns="0" bIns="0" rtlCol="0">
            <a:spAutoFit/>
          </a:bodyPr>
          <a:lstStyle/>
          <a:p>
            <a:pPr marL="12700" algn="ctr">
              <a:lnSpc>
                <a:spcPct val="100000"/>
              </a:lnSpc>
              <a:spcBef>
                <a:spcPts val="100"/>
              </a:spcBef>
            </a:pPr>
            <a:r>
              <a:rPr lang="en-IN" sz="8000" b="1" spc="225" dirty="0">
                <a:latin typeface="Times New Roman"/>
                <a:cs typeface="Times New Roman"/>
              </a:rPr>
              <a:t>CONTENTS</a:t>
            </a:r>
            <a:endParaRPr lang="en-IN" sz="8000" dirty="0">
              <a:latin typeface="Times New Roman"/>
              <a:cs typeface="Times New Roman"/>
            </a:endParaRPr>
          </a:p>
        </p:txBody>
      </p:sp>
      <p:graphicFrame>
        <p:nvGraphicFramePr>
          <p:cNvPr id="5" name="Table 4">
            <a:extLst>
              <a:ext uri="{FF2B5EF4-FFF2-40B4-BE49-F238E27FC236}">
                <a16:creationId xmlns:a16="http://schemas.microsoft.com/office/drawing/2014/main" id="{4D47A45B-B7A6-5CC0-2E4B-944DE4D962AF}"/>
              </a:ext>
            </a:extLst>
          </p:cNvPr>
          <p:cNvGraphicFramePr>
            <a:graphicFrameLocks noGrp="1"/>
          </p:cNvGraphicFramePr>
          <p:nvPr>
            <p:extLst>
              <p:ext uri="{D42A27DB-BD31-4B8C-83A1-F6EECF244321}">
                <p14:modId xmlns:p14="http://schemas.microsoft.com/office/powerpoint/2010/main" val="551552051"/>
              </p:ext>
            </p:extLst>
          </p:nvPr>
        </p:nvGraphicFramePr>
        <p:xfrm>
          <a:off x="1143000" y="1705934"/>
          <a:ext cx="14554200" cy="8930640"/>
        </p:xfrm>
        <a:graphic>
          <a:graphicData uri="http://schemas.openxmlformats.org/drawingml/2006/table">
            <a:tbl>
              <a:tblPr firstRow="1" bandRow="1">
                <a:tableStyleId>{2D5ABB26-0587-4C30-8999-92F81FD0307C}</a:tableStyleId>
              </a:tblPr>
              <a:tblGrid>
                <a:gridCol w="14554200">
                  <a:extLst>
                    <a:ext uri="{9D8B030D-6E8A-4147-A177-3AD203B41FA5}">
                      <a16:colId xmlns:a16="http://schemas.microsoft.com/office/drawing/2014/main" val="4132006639"/>
                    </a:ext>
                  </a:extLst>
                </a:gridCol>
              </a:tblGrid>
              <a:tr h="455312">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ABSTRACT</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1486064"/>
                  </a:ext>
                </a:extLst>
              </a:tr>
              <a:tr h="3906096">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OBJECTIVES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SCOPE OF THE PROJECT</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SOFTWARE/HARDWARE REQUIREMENTS</a:t>
                      </a:r>
                      <a:endParaRPr lang="en-US"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DESCRIPTION OF MODULES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IMPLEMENTATION</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T</a:t>
                      </a:r>
                      <a:r>
                        <a:rPr lang="en-IN" sz="3200" dirty="0">
                          <a:latin typeface="Times New Roman" panose="02020603050405020304" pitchFamily="18" charset="0"/>
                          <a:cs typeface="Times New Roman" panose="02020603050405020304" pitchFamily="18" charset="0"/>
                        </a:rPr>
                        <a:t>ESTING</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RESULT(SNAP SHOTS)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CONCLUSION</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REFERENCES</a:t>
                      </a:r>
                    </a:p>
                    <a:p>
                      <a:pPr marL="457200" indent="-457200">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3382550"/>
                  </a:ext>
                </a:extLst>
              </a:tr>
              <a:tr h="455312">
                <a:tc>
                  <a:txBody>
                    <a:bodyPr/>
                    <a:lstStyle/>
                    <a:p>
                      <a:pPr marL="0" indent="0">
                        <a:buFont typeface="Wingdings" panose="05000000000000000000" pitchFamily="2" charset="2"/>
                        <a:buNone/>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8629531"/>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1884860"/>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6740019"/>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0086850"/>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645419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33400" y="342900"/>
            <a:ext cx="16916400" cy="1243930"/>
          </a:xfrm>
          <a:prstGeom prst="rect">
            <a:avLst/>
          </a:prstGeom>
        </p:spPr>
        <p:txBody>
          <a:bodyPr vert="horz" wrap="square" lIns="0" tIns="12700" rIns="0" bIns="0" rtlCol="0">
            <a:spAutoFit/>
          </a:bodyPr>
          <a:lstStyle/>
          <a:p>
            <a:pPr marL="12700" marR="5080" indent="965835" algn="ctr">
              <a:lnSpc>
                <a:spcPct val="100000"/>
              </a:lnSpc>
              <a:spcBef>
                <a:spcPts val="100"/>
              </a:spcBef>
            </a:pPr>
            <a:r>
              <a:rPr lang="en-IN" sz="8000" spc="345" dirty="0"/>
              <a:t>ABSTRACT</a:t>
            </a:r>
            <a:endParaRPr sz="8000" spc="250" dirty="0"/>
          </a:p>
        </p:txBody>
      </p:sp>
      <p:sp>
        <p:nvSpPr>
          <p:cNvPr id="16" name="TextBox 15">
            <a:extLst>
              <a:ext uri="{FF2B5EF4-FFF2-40B4-BE49-F238E27FC236}">
                <a16:creationId xmlns:a16="http://schemas.microsoft.com/office/drawing/2014/main" id="{2522642A-3EC5-B3E5-8A46-D9A6D34219DD}"/>
              </a:ext>
            </a:extLst>
          </p:cNvPr>
          <p:cNvSpPr txBox="1"/>
          <p:nvPr/>
        </p:nvSpPr>
        <p:spPr>
          <a:xfrm>
            <a:off x="762000" y="2512010"/>
            <a:ext cx="16916400" cy="6186309"/>
          </a:xfrm>
          <a:prstGeom prst="rect">
            <a:avLst/>
          </a:prstGeom>
          <a:noFill/>
        </p:spPr>
        <p:txBody>
          <a:bodyPr wrap="square">
            <a:spAutoFit/>
          </a:bodyPr>
          <a:lstStyle/>
          <a:p>
            <a:pPr algn="just"/>
            <a:r>
              <a:rPr lang="en-US" sz="3600" b="0" i="0" dirty="0">
                <a:solidFill>
                  <a:srgbClr val="333333"/>
                </a:solidFill>
                <a:effectLst/>
                <a:latin typeface="Times New Roman" panose="02020603050405020304" pitchFamily="18" charset="0"/>
                <a:cs typeface="Times New Roman" panose="02020603050405020304" pitchFamily="18" charset="0"/>
              </a:rPr>
              <a:t>Every person in this new generation has access to all of humanity's wisdom. Many technological possibilities are available. Nonetheless, we misuse this benefit by using deepfake for face swap. The deep fake method of machine learning, which is popular on social media, superimposes one person's face over another person's face. Deep learning, which has allowed researchers to produce deepfake images and videos considerably more rapidly and affordably, is the main ingredient in deepfakes. </a:t>
            </a:r>
            <a:endParaRPr lang="en-US" sz="3600" dirty="0">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3600" dirty="0">
                <a:latin typeface="Times New Roman" panose="02020603050405020304" pitchFamily="18" charset="0"/>
                <a:ea typeface="Tahoma" panose="020B0604030504040204" pitchFamily="34" charset="0"/>
                <a:cs typeface="Times New Roman" panose="02020603050405020304" pitchFamily="18" charset="0"/>
              </a:rPr>
              <a:t>This project focuses on detecting deepfake media using AI techniques. With the rise of manipulated videos and images, particularly those generated using deep learning, this system aims to analyze visual cues and artifacts to identify fake content with high accuracy.</a:t>
            </a:r>
          </a:p>
          <a:p>
            <a:pPr algn="just"/>
            <a:endParaRPr lang="en-US" sz="36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8200" y="642993"/>
            <a:ext cx="16306800"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90" dirty="0"/>
              <a:t>OBJECTIVES</a:t>
            </a:r>
            <a:endParaRPr sz="8000" spc="390" dirty="0"/>
          </a:p>
        </p:txBody>
      </p:sp>
      <p:sp>
        <p:nvSpPr>
          <p:cNvPr id="9" name="object 9"/>
          <p:cNvSpPr txBox="1"/>
          <p:nvPr/>
        </p:nvSpPr>
        <p:spPr>
          <a:xfrm>
            <a:off x="5028639" y="6345527"/>
            <a:ext cx="13030200" cy="505267"/>
          </a:xfrm>
          <a:prstGeom prst="rect">
            <a:avLst/>
          </a:prstGeom>
        </p:spPr>
        <p:txBody>
          <a:bodyPr vert="horz" wrap="square" lIns="0" tIns="12700" rIns="0" bIns="0" rtlCol="0">
            <a:spAutoFit/>
          </a:bodyPr>
          <a:lstStyle/>
          <a:p>
            <a:pPr marR="26670" algn="ctr">
              <a:lnSpc>
                <a:spcPct val="100000"/>
              </a:lnSpc>
              <a:spcBef>
                <a:spcPts val="100"/>
              </a:spcBef>
            </a:pPr>
            <a:endParaRPr lang="en-US" sz="32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2DE3E99-5CDE-BFA9-FFDC-0600A66598CA}"/>
              </a:ext>
            </a:extLst>
          </p:cNvPr>
          <p:cNvSpPr>
            <a:spLocks noChangeArrowheads="1"/>
          </p:cNvSpPr>
          <p:nvPr/>
        </p:nvSpPr>
        <p:spPr bwMode="auto">
          <a:xfrm>
            <a:off x="277091" y="2690424"/>
            <a:ext cx="17754039" cy="490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deepfakes using </a:t>
            </a:r>
            <a:r>
              <a:rPr lang="en-US" altLang="en-US" sz="4000" dirty="0">
                <a:solidFill>
                  <a:schemeClr val="tx1"/>
                </a:solidFill>
                <a:latin typeface="Times New Roman" panose="02020603050405020304" pitchFamily="18" charset="0"/>
                <a:cs typeface="Times New Roman" panose="02020603050405020304" pitchFamily="18" charset="0"/>
              </a:rPr>
              <a:t>deep learning</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liveness detection to prevent spoofing using images, videos, or masks.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t>
            </a:r>
            <a:r>
              <a:rPr lang="en-US" altLang="en-US" sz="4000" dirty="0">
                <a:solidFill>
                  <a:schemeClr val="tx1"/>
                </a:solidFill>
                <a:latin typeface="Times New Roman" panose="02020603050405020304" pitchFamily="18" charset="0"/>
                <a:cs typeface="Times New Roman" panose="02020603050405020304" pitchFamily="18" charset="0"/>
              </a:rPr>
              <a:t>d</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istinguish between live humans and deepfakes or replayed content.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4000" dirty="0">
                <a:solidFill>
                  <a:schemeClr val="tx1"/>
                </a:solidFill>
                <a:latin typeface="Times New Roman" panose="02020603050405020304" pitchFamily="18" charset="0"/>
                <a:cs typeface="Times New Roman" panose="02020603050405020304" pitchFamily="18" charset="0"/>
              </a:rPr>
              <a:t>c</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reate a </a:t>
            </a:r>
            <a:r>
              <a:rPr lang="en-US" altLang="en-US" sz="4000" dirty="0">
                <a:solidFill>
                  <a:schemeClr val="tx1"/>
                </a:solidFill>
                <a:latin typeface="Times New Roman" panose="02020603050405020304" pitchFamily="18" charset="0"/>
                <a:cs typeface="Times New Roman" panose="02020603050405020304" pitchFamily="18" charset="0"/>
              </a:rPr>
              <a:t>user-friendly web platform to easily upload the images and video</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t>
            </a:r>
            <a:r>
              <a:rPr lang="en-US" altLang="en-US" sz="4000" dirty="0">
                <a:solidFill>
                  <a:schemeClr val="tx1"/>
                </a:solidFill>
                <a:latin typeface="Times New Roman" panose="02020603050405020304" pitchFamily="18" charset="0"/>
                <a:cs typeface="Times New Roman" panose="02020603050405020304" pitchFamily="18" charset="0"/>
              </a:rPr>
              <a:t>p</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rovide visual feedback or a report of detection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txBox="1"/>
          <p:nvPr/>
        </p:nvSpPr>
        <p:spPr>
          <a:xfrm>
            <a:off x="1752600" y="2628900"/>
            <a:ext cx="14492950" cy="4752583"/>
          </a:xfrm>
          <a:prstGeom prst="rect">
            <a:avLst/>
          </a:prstGeom>
        </p:spPr>
        <p:txBody>
          <a:bodyPr vert="horz" wrap="square" lIns="0" tIns="12700" rIns="0" bIns="0" rtlCol="0">
            <a:spAutoFit/>
          </a:bodyPr>
          <a:lstStyle/>
          <a:p>
            <a:pPr marL="694690">
              <a:lnSpc>
                <a:spcPct val="100000"/>
              </a:lnSpc>
              <a:spcBef>
                <a:spcPts val="100"/>
              </a:spcBef>
            </a:pPr>
            <a:r>
              <a:rPr lang="en-US" sz="4400" dirty="0">
                <a:latin typeface="Times New Roman" panose="02020603050405020304" pitchFamily="18" charset="0"/>
                <a:cs typeface="Times New Roman" panose="02020603050405020304" pitchFamily="18" charset="0"/>
              </a:rPr>
              <a:t>The problem is the growing inability to distinguish highly realistic deepfake media from genuine content, severely compromising security and trust. To overcome this issue develop a web-based AI platform that performs instant deepfake detection and a real-time liveness check to confirm the user is a physically present human, thereby securing digital authentication.</a:t>
            </a:r>
          </a:p>
        </p:txBody>
      </p:sp>
      <p:sp>
        <p:nvSpPr>
          <p:cNvPr id="15" name="object 15"/>
          <p:cNvSpPr txBox="1">
            <a:spLocks noGrp="1"/>
          </p:cNvSpPr>
          <p:nvPr>
            <p:ph type="title"/>
          </p:nvPr>
        </p:nvSpPr>
        <p:spPr>
          <a:xfrm>
            <a:off x="457200" y="603964"/>
            <a:ext cx="17602200" cy="1243930"/>
          </a:xfrm>
          <a:prstGeom prst="rect">
            <a:avLst/>
          </a:prstGeom>
        </p:spPr>
        <p:txBody>
          <a:bodyPr vert="horz" wrap="square" lIns="0" tIns="12700" rIns="0" bIns="0" rtlCol="0">
            <a:spAutoFit/>
          </a:bodyPr>
          <a:lstStyle/>
          <a:p>
            <a:pPr marL="12700" algn="ctr">
              <a:lnSpc>
                <a:spcPct val="100000"/>
              </a:lnSpc>
              <a:spcBef>
                <a:spcPts val="100"/>
              </a:spcBef>
            </a:pPr>
            <a:r>
              <a:rPr lang="en-US" sz="8000" spc="375" dirty="0"/>
              <a:t>PROBLEM</a:t>
            </a:r>
            <a:r>
              <a:rPr lang="en-US" sz="8000" spc="-130" dirty="0"/>
              <a:t> </a:t>
            </a:r>
            <a:r>
              <a:rPr lang="en-US" sz="8000" spc="320" dirty="0"/>
              <a:t>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052989" y="647700"/>
            <a:ext cx="12115799"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75" dirty="0"/>
              <a:t>SCOPE OF PROJECT</a:t>
            </a:r>
            <a:endParaRPr sz="8000" spc="310" dirty="0"/>
          </a:p>
        </p:txBody>
      </p:sp>
      <p:sp>
        <p:nvSpPr>
          <p:cNvPr id="12" name="Rectangle 8">
            <a:extLst>
              <a:ext uri="{FF2B5EF4-FFF2-40B4-BE49-F238E27FC236}">
                <a16:creationId xmlns:a16="http://schemas.microsoft.com/office/drawing/2014/main" id="{E9884516-7265-CC5E-0310-8B4A9FCAC65B}"/>
              </a:ext>
            </a:extLst>
          </p:cNvPr>
          <p:cNvSpPr>
            <a:spLocks noChangeArrowheads="1"/>
          </p:cNvSpPr>
          <p:nvPr/>
        </p:nvSpPr>
        <p:spPr bwMode="auto">
          <a:xfrm>
            <a:off x="1524000" y="2933700"/>
            <a:ext cx="15697200" cy="552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4000" dirty="0">
                <a:latin typeface="Times New Roman" panose="02020603050405020304" pitchFamily="18" charset="0"/>
                <a:cs typeface="Times New Roman" panose="02020603050405020304" pitchFamily="18" charset="0"/>
              </a:rPr>
              <a:t>The project focuses on detecting visual deepfakes and basic spoofing attempts using deep learning. It includes simple liveness checks such as blinking, head movement, and texture cues. The system works only with video and image inputs and supports real-time analysis. Its accuracy depends on input quality and may not detect highly sophisticated deepfakes. It is not intended for high-security applications</a:t>
            </a:r>
            <a:r>
              <a:rPr lang="en-US" sz="4000" dirty="0"/>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10558" y="623680"/>
            <a:ext cx="16611600" cy="956310"/>
          </a:xfrm>
          <a:prstGeom prst="rect">
            <a:avLst/>
          </a:prstGeom>
        </p:spPr>
        <p:txBody>
          <a:bodyPr vert="horz" wrap="square" lIns="0" tIns="16510" rIns="0" bIns="0" rtlCol="0">
            <a:noAutofit/>
          </a:bodyPr>
          <a:lstStyle/>
          <a:p>
            <a:pPr marL="12700" algn="ctr">
              <a:lnSpc>
                <a:spcPct val="100000"/>
              </a:lnSpc>
              <a:spcBef>
                <a:spcPts val="130"/>
              </a:spcBef>
            </a:pPr>
            <a:r>
              <a:rPr lang="en-US" altLang="en-GB" sz="8000" b="1" dirty="0">
                <a:latin typeface="Times New Roman" panose="02020603050405020304" pitchFamily="18" charset="0"/>
                <a:cs typeface="Times New Roman" panose="02020603050405020304" pitchFamily="18" charset="0"/>
              </a:rPr>
              <a:t>SOFTWARE  REQUIREMENTS</a:t>
            </a:r>
            <a:endParaRPr lang="en-US" altLang="en-GB" sz="8000" b="1" dirty="0">
              <a:latin typeface="Times New Roman" panose="02020603050405020304" pitchFamily="18" charset="0"/>
              <a:cs typeface="Times New Roman" panose="02020603050405020304" pitchFamily="18" charset="0"/>
              <a:sym typeface="+mn-ea"/>
            </a:endParaRPr>
          </a:p>
          <a:p>
            <a:pPr marL="12700" algn="ctr">
              <a:lnSpc>
                <a:spcPct val="100000"/>
              </a:lnSpc>
              <a:spcBef>
                <a:spcPts val="130"/>
              </a:spcBef>
            </a:pPr>
            <a:endParaRPr lang="en-US" sz="80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41F2DBA-FC03-ACDE-4689-6FF67BD61115}"/>
              </a:ext>
            </a:extLst>
          </p:cNvPr>
          <p:cNvGraphicFramePr>
            <a:graphicFrameLocks noGrp="1"/>
          </p:cNvGraphicFramePr>
          <p:nvPr>
            <p:extLst>
              <p:ext uri="{D42A27DB-BD31-4B8C-83A1-F6EECF244321}">
                <p14:modId xmlns:p14="http://schemas.microsoft.com/office/powerpoint/2010/main" val="1815841462"/>
              </p:ext>
            </p:extLst>
          </p:nvPr>
        </p:nvGraphicFramePr>
        <p:xfrm>
          <a:off x="2895600" y="3390900"/>
          <a:ext cx="12192000" cy="5715000"/>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754544745"/>
                    </a:ext>
                  </a:extLst>
                </a:gridCol>
                <a:gridCol w="6096000">
                  <a:extLst>
                    <a:ext uri="{9D8B030D-6E8A-4147-A177-3AD203B41FA5}">
                      <a16:colId xmlns:a16="http://schemas.microsoft.com/office/drawing/2014/main" val="1152310834"/>
                    </a:ext>
                  </a:extLst>
                </a:gridCol>
              </a:tblGrid>
              <a:tr h="952500">
                <a:tc>
                  <a:txBody>
                    <a:bodyPr/>
                    <a:lstStyle/>
                    <a:p>
                      <a:pPr algn="ctr"/>
                      <a:r>
                        <a:rPr lang="en-IN" sz="3600" dirty="0"/>
                        <a:t>OPERATING SYSYTEM</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WINDOWS 11</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0962833"/>
                  </a:ext>
                </a:extLst>
              </a:tr>
              <a:tr h="952500">
                <a:tc>
                  <a:txBody>
                    <a:bodyPr/>
                    <a:lstStyle/>
                    <a:p>
                      <a:pPr algn="ctr"/>
                      <a:r>
                        <a:rPr lang="en-IN" sz="3600" dirty="0"/>
                        <a:t>FRONTEND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HTML, CSS</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1553466"/>
                  </a:ext>
                </a:extLst>
              </a:tr>
              <a:tr h="952500">
                <a:tc>
                  <a:txBody>
                    <a:bodyPr/>
                    <a:lstStyle/>
                    <a:p>
                      <a:pPr algn="ctr"/>
                      <a:r>
                        <a:rPr lang="en-IN" sz="3600" dirty="0"/>
                        <a:t>BACKEND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FLASK,PYTHON</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4221878"/>
                  </a:ext>
                </a:extLst>
              </a:tr>
              <a:tr h="952500">
                <a:tc>
                  <a:txBody>
                    <a:bodyPr/>
                    <a:lstStyle/>
                    <a:p>
                      <a:pPr algn="ctr"/>
                      <a:r>
                        <a:rPr lang="en-IN" sz="3600" dirty="0"/>
                        <a:t>LIBRARIES</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TENSORFLOW, NumPy</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6060465"/>
                  </a:ext>
                </a:extLst>
              </a:tr>
              <a:tr h="952500">
                <a:tc>
                  <a:txBody>
                    <a:bodyPr/>
                    <a:lstStyle/>
                    <a:p>
                      <a:pPr algn="ctr"/>
                      <a:r>
                        <a:rPr lang="en-IN" sz="3600" dirty="0"/>
                        <a:t>IDE</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VISUAL STUDIO</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1946408"/>
                  </a:ext>
                </a:extLst>
              </a:tr>
              <a:tr h="952500">
                <a:tc>
                  <a:txBody>
                    <a:bodyPr/>
                    <a:lstStyle/>
                    <a:p>
                      <a:pPr algn="ctr"/>
                      <a:r>
                        <a:rPr lang="en-IN" sz="3600" dirty="0"/>
                        <a:t>WEB BROWSER</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CHROME</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110328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304800" y="723900"/>
            <a:ext cx="17754600" cy="956310"/>
          </a:xfrm>
          <a:prstGeom prst="rect">
            <a:avLst/>
          </a:prstGeom>
        </p:spPr>
        <p:txBody>
          <a:bodyPr vert="horz" wrap="square" lIns="0" tIns="16510" rIns="0" bIns="0" rtlCol="0">
            <a:noAutofit/>
          </a:bodyPr>
          <a:lstStyle/>
          <a:p>
            <a:pPr marL="12700" algn="ctr">
              <a:lnSpc>
                <a:spcPct val="100000"/>
              </a:lnSpc>
              <a:spcBef>
                <a:spcPts val="130"/>
              </a:spcBef>
            </a:pPr>
            <a:r>
              <a:rPr lang="en-US" altLang="en-GB" sz="8000" b="1" dirty="0">
                <a:latin typeface="Times New Roman" panose="02020603050405020304" pitchFamily="18" charset="0"/>
                <a:cs typeface="Times New Roman" panose="02020603050405020304" pitchFamily="18" charset="0"/>
              </a:rPr>
              <a:t> HARDWARE REQUIREMENTS</a:t>
            </a:r>
          </a:p>
          <a:p>
            <a:pPr marL="12700" algn="ctr">
              <a:lnSpc>
                <a:spcPct val="100000"/>
              </a:lnSpc>
              <a:spcBef>
                <a:spcPts val="130"/>
              </a:spcBef>
            </a:pPr>
            <a:endParaRPr lang="en-US" sz="8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1926673-0153-023F-516C-AD7CD3FB1E91}"/>
              </a:ext>
            </a:extLst>
          </p:cNvPr>
          <p:cNvGraphicFramePr>
            <a:graphicFrameLocks noGrp="1"/>
          </p:cNvGraphicFramePr>
          <p:nvPr>
            <p:extLst>
              <p:ext uri="{D42A27DB-BD31-4B8C-83A1-F6EECF244321}">
                <p14:modId xmlns:p14="http://schemas.microsoft.com/office/powerpoint/2010/main" val="14955164"/>
              </p:ext>
            </p:extLst>
          </p:nvPr>
        </p:nvGraphicFramePr>
        <p:xfrm>
          <a:off x="2743200" y="4030980"/>
          <a:ext cx="12192000" cy="4541520"/>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1960234309"/>
                    </a:ext>
                  </a:extLst>
                </a:gridCol>
                <a:gridCol w="6096000">
                  <a:extLst>
                    <a:ext uri="{9D8B030D-6E8A-4147-A177-3AD203B41FA5}">
                      <a16:colId xmlns:a16="http://schemas.microsoft.com/office/drawing/2014/main" val="4188366450"/>
                    </a:ext>
                  </a:extLst>
                </a:gridCol>
              </a:tblGrid>
              <a:tr h="756920">
                <a:tc>
                  <a:txBody>
                    <a:bodyPr/>
                    <a:lstStyle/>
                    <a:p>
                      <a:pPr algn="ctr"/>
                      <a:r>
                        <a:rPr lang="en-IN" sz="3600" dirty="0"/>
                        <a:t>PROCESSOR(CPU)</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INTEL i5</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6878083"/>
                  </a:ext>
                </a:extLst>
              </a:tr>
              <a:tr h="756920">
                <a:tc>
                  <a:txBody>
                    <a:bodyPr/>
                    <a:lstStyle/>
                    <a:p>
                      <a:pPr algn="ctr"/>
                      <a:r>
                        <a:rPr lang="en-IN" sz="3600" dirty="0"/>
                        <a:t>RAM</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8GB</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27331250"/>
                  </a:ext>
                </a:extLst>
              </a:tr>
              <a:tr h="756920">
                <a:tc>
                  <a:txBody>
                    <a:bodyPr/>
                    <a:lstStyle/>
                    <a:p>
                      <a:pPr algn="ctr"/>
                      <a:r>
                        <a:rPr lang="en-IN" sz="3600" dirty="0"/>
                        <a:t>GRAPHICS CARD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Integrated GPU</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39809779"/>
                  </a:ext>
                </a:extLst>
              </a:tr>
              <a:tr h="756920">
                <a:tc>
                  <a:txBody>
                    <a:bodyPr/>
                    <a:lstStyle/>
                    <a:p>
                      <a:pPr algn="ctr"/>
                      <a:r>
                        <a:rPr lang="en-IN" sz="3600" dirty="0"/>
                        <a:t>STORAGE</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512 GB SSD</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9777234"/>
                  </a:ext>
                </a:extLst>
              </a:tr>
              <a:tr h="756920">
                <a:tc>
                  <a:txBody>
                    <a:bodyPr/>
                    <a:lstStyle/>
                    <a:p>
                      <a:pPr algn="ctr"/>
                      <a:r>
                        <a:rPr lang="en-IN" sz="3600" dirty="0"/>
                        <a:t>DISPLAY</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US" sz="3600" dirty="0">
                          <a:latin typeface="Times New Roman" panose="02020603050405020304" pitchFamily="18" charset="0"/>
                          <a:cs typeface="Times New Roman" panose="02020603050405020304" pitchFamily="18" charset="0"/>
                        </a:rPr>
                        <a:t>720p-1080p</a:t>
                      </a:r>
                    </a:p>
                  </a:txBody>
                  <a:tcPr/>
                </a:tc>
                <a:extLst>
                  <a:ext uri="{0D108BD9-81ED-4DB2-BD59-A6C34878D82A}">
                    <a16:rowId xmlns:a16="http://schemas.microsoft.com/office/drawing/2014/main" val="2645533035"/>
                  </a:ext>
                </a:extLst>
              </a:tr>
              <a:tr h="756920">
                <a:tc>
                  <a:txBody>
                    <a:bodyPr/>
                    <a:lstStyle/>
                    <a:p>
                      <a:pPr algn="ctr"/>
                      <a:r>
                        <a:rPr lang="en-IN" sz="3600" dirty="0"/>
                        <a:t>INTERNET</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real-time detection</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327803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2000" y="449005"/>
            <a:ext cx="16687800" cy="1243930"/>
          </a:xfrm>
          <a:prstGeom prst="rect">
            <a:avLst/>
          </a:prstGeom>
        </p:spPr>
        <p:txBody>
          <a:bodyPr vert="horz" wrap="square" lIns="0" tIns="12700" rIns="0" bIns="0" rtlCol="0">
            <a:spAutoFit/>
          </a:bodyPr>
          <a:lstStyle/>
          <a:p>
            <a:pPr marL="12700" algn="ctr">
              <a:lnSpc>
                <a:spcPct val="100000"/>
              </a:lnSpc>
              <a:spcBef>
                <a:spcPts val="100"/>
              </a:spcBef>
            </a:pPr>
            <a:r>
              <a:rPr lang="en-US" altLang="en-GB" sz="8000" spc="390" dirty="0"/>
              <a:t>DESCRIPTION OF MODULES</a:t>
            </a:r>
          </a:p>
        </p:txBody>
      </p:sp>
      <p:sp>
        <p:nvSpPr>
          <p:cNvPr id="9" name="object 9"/>
          <p:cNvSpPr txBox="1"/>
          <p:nvPr/>
        </p:nvSpPr>
        <p:spPr>
          <a:xfrm>
            <a:off x="567290" y="2727679"/>
            <a:ext cx="17111110" cy="4831642"/>
          </a:xfrm>
          <a:prstGeom prst="rect">
            <a:avLst/>
          </a:prstGeom>
        </p:spPr>
        <p:txBody>
          <a:bodyPr vert="horz" wrap="square" lIns="0" tIns="12700" rIns="0" bIns="0" rtlCol="0">
            <a:noAutofit/>
          </a:bodyPr>
          <a:lstStyle/>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L="571500" marR="26670" indent="-571500" algn="l">
              <a:spcBef>
                <a:spcPts val="100"/>
              </a:spcBef>
              <a:buFont typeface="Arial" panose="020B0604020202020204" pitchFamily="34" charset="0"/>
              <a:buChar char="•"/>
            </a:pPr>
            <a:r>
              <a:rPr lang="en-US" altLang="en-GB" sz="4000" b="1" dirty="0">
                <a:latin typeface="Times New Roman" panose="02020603050405020304" pitchFamily="18" charset="0"/>
                <a:cs typeface="Times New Roman" panose="02020603050405020304" pitchFamily="18" charset="0"/>
              </a:rPr>
              <a:t>Data collection and Preprocessing Module</a:t>
            </a:r>
            <a:r>
              <a:rPr lang="en-US" altLang="en-GB"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Collects real and fake videos, extracts frames, detects faces, and applies resizing and normalization to prepare data for training.</a:t>
            </a: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L="571500" marR="26670" indent="-571500" algn="l">
              <a:lnSpc>
                <a:spcPct val="100000"/>
              </a:lnSpc>
              <a:spcBef>
                <a:spcPts val="100"/>
              </a:spcBef>
              <a:buFont typeface="Arial" panose="020B0604020202020204" pitchFamily="34" charset="0"/>
              <a:buChar char="•"/>
            </a:pPr>
            <a:r>
              <a:rPr lang="en-US" altLang="en-GB" sz="4000" b="1" dirty="0">
                <a:latin typeface="Times New Roman" panose="02020603050405020304" pitchFamily="18" charset="0"/>
                <a:cs typeface="Times New Roman" panose="02020603050405020304" pitchFamily="18" charset="0"/>
              </a:rPr>
              <a:t>Deepfake  and Liveness detection module</a:t>
            </a:r>
            <a:r>
              <a:rPr lang="en-US" altLang="en-GB"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Uses AI to detect visual artifacts and fake patterns. Liveness check ensures the input is from a real person, not synthetic media.</a:t>
            </a:r>
            <a:endParaRPr lang="en-US" altLang="en-GB" sz="4000" dirty="0">
              <a:latin typeface="Times New Roman" panose="02020603050405020304" pitchFamily="18" charset="0"/>
              <a:cs typeface="Times New Roman" panose="02020603050405020304" pitchFamily="18" charset="0"/>
            </a:endParaRP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4F1D-F3AF-1318-FDD5-D7FCF41E1945}"/>
              </a:ext>
            </a:extLst>
          </p:cNvPr>
          <p:cNvSpPr>
            <a:spLocks noGrp="1"/>
          </p:cNvSpPr>
          <p:nvPr>
            <p:ph type="title"/>
          </p:nvPr>
        </p:nvSpPr>
        <p:spPr>
          <a:xfrm>
            <a:off x="990600" y="800101"/>
            <a:ext cx="16286018" cy="1477328"/>
          </a:xfrm>
        </p:spPr>
        <p:txBody>
          <a:bodyPr/>
          <a:lstStyle/>
          <a:p>
            <a:r>
              <a:rPr lang="en-US" sz="9600" dirty="0"/>
              <a:t>DATASET DISTRIBUTION:</a:t>
            </a:r>
            <a:endParaRPr lang="en-IN" dirty="0"/>
          </a:p>
        </p:txBody>
      </p:sp>
      <p:pic>
        <p:nvPicPr>
          <p:cNvPr id="5" name="Picture 4">
            <a:extLst>
              <a:ext uri="{FF2B5EF4-FFF2-40B4-BE49-F238E27FC236}">
                <a16:creationId xmlns:a16="http://schemas.microsoft.com/office/drawing/2014/main" id="{7F987EC3-573A-662B-7972-177F1A541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628900"/>
            <a:ext cx="16590818" cy="7086600"/>
          </a:xfrm>
          <a:prstGeom prst="rect">
            <a:avLst/>
          </a:prstGeom>
        </p:spPr>
      </p:pic>
    </p:spTree>
    <p:extLst>
      <p:ext uri="{BB962C8B-B14F-4D97-AF65-F5344CB8AC3E}">
        <p14:creationId xmlns:p14="http://schemas.microsoft.com/office/powerpoint/2010/main" val="23097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CA53-8DA4-04EE-1D0E-03627FB15BBB}"/>
              </a:ext>
            </a:extLst>
          </p:cNvPr>
          <p:cNvSpPr>
            <a:spLocks noGrp="1"/>
          </p:cNvSpPr>
          <p:nvPr>
            <p:ph type="title"/>
          </p:nvPr>
        </p:nvSpPr>
        <p:spPr>
          <a:xfrm>
            <a:off x="609600" y="571500"/>
            <a:ext cx="11284656" cy="1524000"/>
          </a:xfrm>
        </p:spPr>
        <p:txBody>
          <a:bodyPr/>
          <a:lstStyle/>
          <a:p>
            <a:r>
              <a:rPr lang="en-US" dirty="0"/>
              <a:t>IMPLEMENTATION</a:t>
            </a:r>
            <a:endParaRPr lang="en-IN" dirty="0"/>
          </a:p>
        </p:txBody>
      </p:sp>
      <p:sp>
        <p:nvSpPr>
          <p:cNvPr id="13" name="TextBox 12">
            <a:extLst>
              <a:ext uri="{FF2B5EF4-FFF2-40B4-BE49-F238E27FC236}">
                <a16:creationId xmlns:a16="http://schemas.microsoft.com/office/drawing/2014/main" id="{B8D277DD-DAE7-EF66-7FEF-01ECDFB2C78F}"/>
              </a:ext>
            </a:extLst>
          </p:cNvPr>
          <p:cNvSpPr txBox="1"/>
          <p:nvPr/>
        </p:nvSpPr>
        <p:spPr>
          <a:xfrm>
            <a:off x="838200" y="2473973"/>
            <a:ext cx="14859000" cy="1815882"/>
          </a:xfrm>
          <a:prstGeom prst="rect">
            <a:avLst/>
          </a:prstGeom>
          <a:noFill/>
        </p:spPr>
        <p:txBody>
          <a:bodyPr wrap="square">
            <a:spAutoFit/>
          </a:bodyPr>
          <a:lstStyle/>
          <a:p>
            <a:pPr>
              <a:buNone/>
            </a:pPr>
            <a:r>
              <a:rPr lang="en-US" sz="2800" b="1" dirty="0"/>
              <a:t>Technical Architecture</a:t>
            </a:r>
          </a:p>
          <a:p>
            <a:pPr>
              <a:buNone/>
            </a:pPr>
            <a:r>
              <a:rPr lang="en-US" sz="2800" dirty="0" err="1"/>
              <a:t>DeepGuard</a:t>
            </a:r>
            <a:r>
              <a:rPr lang="en-US" sz="2800" dirty="0"/>
              <a:t> AI integrates deepfake detection and liveness analysis using a </a:t>
            </a:r>
            <a:r>
              <a:rPr lang="en-US" sz="2800" dirty="0" err="1"/>
              <a:t>MobileNet</a:t>
            </a:r>
            <a:r>
              <a:rPr lang="en-US" sz="2800" dirty="0"/>
              <a:t>-based deep learning model, deployed with a Flask web application for real-time image and video analysis.</a:t>
            </a:r>
          </a:p>
        </p:txBody>
      </p:sp>
      <p:sp>
        <p:nvSpPr>
          <p:cNvPr id="15" name="TextBox 14">
            <a:extLst>
              <a:ext uri="{FF2B5EF4-FFF2-40B4-BE49-F238E27FC236}">
                <a16:creationId xmlns:a16="http://schemas.microsoft.com/office/drawing/2014/main" id="{3F1EE4A9-A13F-B631-6BF1-9B2404F1D873}"/>
              </a:ext>
            </a:extLst>
          </p:cNvPr>
          <p:cNvSpPr txBox="1"/>
          <p:nvPr/>
        </p:nvSpPr>
        <p:spPr>
          <a:xfrm>
            <a:off x="742604" y="4889064"/>
            <a:ext cx="7848600" cy="2246769"/>
          </a:xfrm>
          <a:prstGeom prst="rect">
            <a:avLst/>
          </a:prstGeom>
          <a:noFill/>
        </p:spPr>
        <p:txBody>
          <a:bodyPr wrap="square">
            <a:spAutoFit/>
          </a:bodyPr>
          <a:lstStyle/>
          <a:p>
            <a:pPr>
              <a:buNone/>
            </a:pPr>
            <a:r>
              <a:rPr lang="en-IN" sz="2800" b="1" dirty="0"/>
              <a:t>Development Tools</a:t>
            </a:r>
          </a:p>
          <a:p>
            <a:pPr>
              <a:buFont typeface="Arial" panose="020B0604020202020204" pitchFamily="34" charset="0"/>
              <a:buChar char="•"/>
            </a:pPr>
            <a:r>
              <a:rPr lang="en-IN" sz="2800" dirty="0"/>
              <a:t>Python (TensorFlow/</a:t>
            </a:r>
            <a:r>
              <a:rPr lang="en-IN" sz="2800" dirty="0" err="1"/>
              <a:t>Keras</a:t>
            </a:r>
            <a:r>
              <a:rPr lang="en-IN" sz="2800" dirty="0"/>
              <a:t>, OpenCV, NumPy)</a:t>
            </a:r>
          </a:p>
          <a:p>
            <a:pPr>
              <a:buFont typeface="Arial" panose="020B0604020202020204" pitchFamily="34" charset="0"/>
              <a:buChar char="•"/>
            </a:pPr>
            <a:r>
              <a:rPr lang="en-IN" sz="2800" dirty="0"/>
              <a:t>MTCNN for face detection</a:t>
            </a:r>
          </a:p>
          <a:p>
            <a:pPr>
              <a:buFont typeface="Arial" panose="020B0604020202020204" pitchFamily="34" charset="0"/>
              <a:buChar char="•"/>
            </a:pPr>
            <a:r>
              <a:rPr lang="en-IN" sz="2800" dirty="0"/>
              <a:t>Flask backend + Bootstrap 5 UI</a:t>
            </a:r>
          </a:p>
          <a:p>
            <a:pPr>
              <a:buFont typeface="Arial" panose="020B0604020202020204" pitchFamily="34" charset="0"/>
              <a:buChar char="•"/>
            </a:pPr>
            <a:r>
              <a:rPr lang="en-IN" sz="2800" dirty="0"/>
              <a:t>Google Colab for model training</a:t>
            </a:r>
          </a:p>
        </p:txBody>
      </p:sp>
      <p:sp>
        <p:nvSpPr>
          <p:cNvPr id="19" name="TextBox 18">
            <a:extLst>
              <a:ext uri="{FF2B5EF4-FFF2-40B4-BE49-F238E27FC236}">
                <a16:creationId xmlns:a16="http://schemas.microsoft.com/office/drawing/2014/main" id="{A7518892-842E-C92A-3955-7E5F81426E64}"/>
              </a:ext>
            </a:extLst>
          </p:cNvPr>
          <p:cNvSpPr txBox="1"/>
          <p:nvPr/>
        </p:nvSpPr>
        <p:spPr>
          <a:xfrm>
            <a:off x="8915400" y="4825782"/>
            <a:ext cx="8382000" cy="2677656"/>
          </a:xfrm>
          <a:prstGeom prst="rect">
            <a:avLst/>
          </a:prstGeom>
          <a:noFill/>
        </p:spPr>
        <p:txBody>
          <a:bodyPr wrap="square">
            <a:spAutoFit/>
          </a:bodyPr>
          <a:lstStyle/>
          <a:p>
            <a:pPr>
              <a:buNone/>
            </a:pPr>
            <a:r>
              <a:rPr lang="en-US" sz="2800" b="1" dirty="0"/>
              <a:t>Workflow Process</a:t>
            </a:r>
          </a:p>
          <a:p>
            <a:pPr>
              <a:buFont typeface="Arial" panose="020B0604020202020204" pitchFamily="34" charset="0"/>
              <a:buChar char="•"/>
            </a:pPr>
            <a:r>
              <a:rPr lang="en-US" sz="2800" dirty="0"/>
              <a:t>Data preprocessing &amp; augmentation</a:t>
            </a:r>
          </a:p>
          <a:p>
            <a:pPr>
              <a:buFont typeface="Arial" panose="020B0604020202020204" pitchFamily="34" charset="0"/>
              <a:buChar char="•"/>
            </a:pPr>
            <a:r>
              <a:rPr lang="en-US" sz="2800" dirty="0"/>
              <a:t>Transfer learning using </a:t>
            </a:r>
            <a:r>
              <a:rPr lang="en-US" sz="2800" dirty="0" err="1"/>
              <a:t>MobileNet</a:t>
            </a:r>
            <a:endParaRPr lang="en-US" sz="2800" dirty="0"/>
          </a:p>
          <a:p>
            <a:pPr>
              <a:buFont typeface="Arial" panose="020B0604020202020204" pitchFamily="34" charset="0"/>
              <a:buChar char="•"/>
            </a:pPr>
            <a:r>
              <a:rPr lang="en-US" sz="2800" dirty="0"/>
              <a:t>Model fine-tuning &amp; evaluation</a:t>
            </a:r>
          </a:p>
          <a:p>
            <a:pPr>
              <a:buFont typeface="Arial" panose="020B0604020202020204" pitchFamily="34" charset="0"/>
              <a:buChar char="•"/>
            </a:pPr>
            <a:r>
              <a:rPr lang="en-US" sz="2800" dirty="0"/>
              <a:t>Real-time inference (image/video)</a:t>
            </a:r>
          </a:p>
          <a:p>
            <a:pPr>
              <a:buFont typeface="Arial" panose="020B0604020202020204" pitchFamily="34" charset="0"/>
              <a:buChar char="•"/>
            </a:pPr>
            <a:r>
              <a:rPr lang="en-US" sz="2800" dirty="0"/>
              <a:t>Confidence scoring and visual feedback</a:t>
            </a:r>
          </a:p>
        </p:txBody>
      </p:sp>
      <p:graphicFrame>
        <p:nvGraphicFramePr>
          <p:cNvPr id="20" name="Table 19">
            <a:extLst>
              <a:ext uri="{FF2B5EF4-FFF2-40B4-BE49-F238E27FC236}">
                <a16:creationId xmlns:a16="http://schemas.microsoft.com/office/drawing/2014/main" id="{7B09F43C-06E2-A914-E31F-22995EC62E35}"/>
              </a:ext>
            </a:extLst>
          </p:cNvPr>
          <p:cNvGraphicFramePr>
            <a:graphicFrameLocks noGrp="1"/>
          </p:cNvGraphicFramePr>
          <p:nvPr>
            <p:extLst>
              <p:ext uri="{D42A27DB-BD31-4B8C-83A1-F6EECF244321}">
                <p14:modId xmlns:p14="http://schemas.microsoft.com/office/powerpoint/2010/main" val="2283831331"/>
              </p:ext>
            </p:extLst>
          </p:nvPr>
        </p:nvGraphicFramePr>
        <p:xfrm>
          <a:off x="1118394" y="7986269"/>
          <a:ext cx="16051212" cy="1463040"/>
        </p:xfrm>
        <a:graphic>
          <a:graphicData uri="http://schemas.openxmlformats.org/drawingml/2006/table">
            <a:tbl>
              <a:tblPr>
                <a:tableStyleId>{616DA210-FB5B-4158-B5E0-FEB733F419BA}</a:tableStyleId>
              </a:tblPr>
              <a:tblGrid>
                <a:gridCol w="5350404">
                  <a:extLst>
                    <a:ext uri="{9D8B030D-6E8A-4147-A177-3AD203B41FA5}">
                      <a16:colId xmlns:a16="http://schemas.microsoft.com/office/drawing/2014/main" val="3017075529"/>
                    </a:ext>
                  </a:extLst>
                </a:gridCol>
                <a:gridCol w="5350404">
                  <a:extLst>
                    <a:ext uri="{9D8B030D-6E8A-4147-A177-3AD203B41FA5}">
                      <a16:colId xmlns:a16="http://schemas.microsoft.com/office/drawing/2014/main" val="3419753642"/>
                    </a:ext>
                  </a:extLst>
                </a:gridCol>
                <a:gridCol w="5350404">
                  <a:extLst>
                    <a:ext uri="{9D8B030D-6E8A-4147-A177-3AD203B41FA5}">
                      <a16:colId xmlns:a16="http://schemas.microsoft.com/office/drawing/2014/main" val="2130083980"/>
                    </a:ext>
                  </a:extLst>
                </a:gridCol>
              </a:tblGrid>
              <a:tr h="0">
                <a:tc>
                  <a:txBody>
                    <a:bodyPr/>
                    <a:lstStyle/>
                    <a:p>
                      <a:pPr>
                        <a:buNone/>
                      </a:pPr>
                      <a:r>
                        <a:rPr lang="en-IN" sz="2800" b="1"/>
                        <a:t>Algorithm</a:t>
                      </a:r>
                      <a:endParaRPr lang="en-IN" sz="2800"/>
                    </a:p>
                  </a:txBody>
                  <a:tcPr anchor="ctr"/>
                </a:tc>
                <a:tc>
                  <a:txBody>
                    <a:bodyPr/>
                    <a:lstStyle/>
                    <a:p>
                      <a:pPr>
                        <a:buNone/>
                      </a:pPr>
                      <a:r>
                        <a:rPr lang="en-IN" sz="2800" b="1"/>
                        <a:t>Dataset</a:t>
                      </a:r>
                      <a:endParaRPr lang="en-IN" sz="2800"/>
                    </a:p>
                  </a:txBody>
                  <a:tcPr anchor="ctr"/>
                </a:tc>
                <a:tc>
                  <a:txBody>
                    <a:bodyPr/>
                    <a:lstStyle/>
                    <a:p>
                      <a:pPr>
                        <a:buNone/>
                      </a:pPr>
                      <a:r>
                        <a:rPr lang="en-IN" sz="2800" b="1"/>
                        <a:t>Metrics</a:t>
                      </a:r>
                      <a:endParaRPr lang="en-IN" sz="2800"/>
                    </a:p>
                  </a:txBody>
                  <a:tcPr anchor="ctr"/>
                </a:tc>
                <a:extLst>
                  <a:ext uri="{0D108BD9-81ED-4DB2-BD59-A6C34878D82A}">
                    <a16:rowId xmlns:a16="http://schemas.microsoft.com/office/drawing/2014/main" val="1390419922"/>
                  </a:ext>
                </a:extLst>
              </a:tr>
              <a:tr h="0">
                <a:tc>
                  <a:txBody>
                    <a:bodyPr/>
                    <a:lstStyle/>
                    <a:p>
                      <a:pPr>
                        <a:buNone/>
                      </a:pPr>
                      <a:r>
                        <a:rPr lang="en-IN" sz="2800" dirty="0" err="1"/>
                        <a:t>MobileNet</a:t>
                      </a:r>
                      <a:r>
                        <a:rPr lang="en-IN" sz="2800" dirty="0"/>
                        <a:t> + Liveness Detection</a:t>
                      </a:r>
                    </a:p>
                  </a:txBody>
                  <a:tcPr anchor="ctr"/>
                </a:tc>
                <a:tc>
                  <a:txBody>
                    <a:bodyPr/>
                    <a:lstStyle/>
                    <a:p>
                      <a:pPr>
                        <a:buNone/>
                      </a:pPr>
                      <a:r>
                        <a:rPr lang="en-US" sz="2800" dirty="0"/>
                        <a:t>Real vs Fake + Spoof samples</a:t>
                      </a:r>
                    </a:p>
                  </a:txBody>
                  <a:tcPr anchor="ctr"/>
                </a:tc>
                <a:tc>
                  <a:txBody>
                    <a:bodyPr/>
                    <a:lstStyle/>
                    <a:p>
                      <a:pPr>
                        <a:buNone/>
                      </a:pPr>
                      <a:r>
                        <a:rPr lang="en-US" sz="2800" dirty="0"/>
                        <a:t>Accuracy (97%), Confidence Score, FPS</a:t>
                      </a:r>
                    </a:p>
                  </a:txBody>
                  <a:tcPr anchor="ctr"/>
                </a:tc>
                <a:extLst>
                  <a:ext uri="{0D108BD9-81ED-4DB2-BD59-A6C34878D82A}">
                    <a16:rowId xmlns:a16="http://schemas.microsoft.com/office/drawing/2014/main" val="2433137071"/>
                  </a:ext>
                </a:extLst>
              </a:tr>
            </a:tbl>
          </a:graphicData>
        </a:graphic>
      </p:graphicFrame>
    </p:spTree>
    <p:extLst>
      <p:ext uri="{BB962C8B-B14F-4D97-AF65-F5344CB8AC3E}">
        <p14:creationId xmlns:p14="http://schemas.microsoft.com/office/powerpoint/2010/main" val="49521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212A-E6EE-FFCD-0FE1-3D1FF8445B9A}"/>
              </a:ext>
            </a:extLst>
          </p:cNvPr>
          <p:cNvSpPr>
            <a:spLocks noGrp="1"/>
          </p:cNvSpPr>
          <p:nvPr>
            <p:ph type="title"/>
          </p:nvPr>
        </p:nvSpPr>
        <p:spPr>
          <a:xfrm>
            <a:off x="914400" y="495301"/>
            <a:ext cx="9220200" cy="1107996"/>
          </a:xfrm>
        </p:spPr>
        <p:txBody>
          <a:bodyPr/>
          <a:lstStyle/>
          <a:p>
            <a:r>
              <a:rPr lang="en-US" sz="7200" dirty="0"/>
              <a:t>TESTING</a:t>
            </a:r>
            <a:endParaRPr lang="en-IN" sz="7200" dirty="0"/>
          </a:p>
        </p:txBody>
      </p:sp>
      <p:graphicFrame>
        <p:nvGraphicFramePr>
          <p:cNvPr id="5" name="Table 4">
            <a:extLst>
              <a:ext uri="{FF2B5EF4-FFF2-40B4-BE49-F238E27FC236}">
                <a16:creationId xmlns:a16="http://schemas.microsoft.com/office/drawing/2014/main" id="{9620021E-59E3-7093-7D7B-73DB10CCBCDF}"/>
              </a:ext>
            </a:extLst>
          </p:cNvPr>
          <p:cNvGraphicFramePr>
            <a:graphicFrameLocks noGrp="1"/>
          </p:cNvGraphicFramePr>
          <p:nvPr>
            <p:extLst>
              <p:ext uri="{D42A27DB-BD31-4B8C-83A1-F6EECF244321}">
                <p14:modId xmlns:p14="http://schemas.microsoft.com/office/powerpoint/2010/main" val="2624569081"/>
              </p:ext>
            </p:extLst>
          </p:nvPr>
        </p:nvGraphicFramePr>
        <p:xfrm>
          <a:off x="838200" y="2476500"/>
          <a:ext cx="17145000" cy="7608713"/>
        </p:xfrm>
        <a:graphic>
          <a:graphicData uri="http://schemas.openxmlformats.org/drawingml/2006/table">
            <a:tbl>
              <a:tblPr>
                <a:tableStyleId>{BC89EF96-8CEA-46FF-86C4-4CE0E7609802}</a:tableStyleId>
              </a:tblPr>
              <a:tblGrid>
                <a:gridCol w="3429000">
                  <a:extLst>
                    <a:ext uri="{9D8B030D-6E8A-4147-A177-3AD203B41FA5}">
                      <a16:colId xmlns:a16="http://schemas.microsoft.com/office/drawing/2014/main" val="212918560"/>
                    </a:ext>
                  </a:extLst>
                </a:gridCol>
                <a:gridCol w="3429000">
                  <a:extLst>
                    <a:ext uri="{9D8B030D-6E8A-4147-A177-3AD203B41FA5}">
                      <a16:colId xmlns:a16="http://schemas.microsoft.com/office/drawing/2014/main" val="2261250586"/>
                    </a:ext>
                  </a:extLst>
                </a:gridCol>
                <a:gridCol w="3429000">
                  <a:extLst>
                    <a:ext uri="{9D8B030D-6E8A-4147-A177-3AD203B41FA5}">
                      <a16:colId xmlns:a16="http://schemas.microsoft.com/office/drawing/2014/main" val="2084771898"/>
                    </a:ext>
                  </a:extLst>
                </a:gridCol>
                <a:gridCol w="3429000">
                  <a:extLst>
                    <a:ext uri="{9D8B030D-6E8A-4147-A177-3AD203B41FA5}">
                      <a16:colId xmlns:a16="http://schemas.microsoft.com/office/drawing/2014/main" val="941013938"/>
                    </a:ext>
                  </a:extLst>
                </a:gridCol>
                <a:gridCol w="3429000">
                  <a:extLst>
                    <a:ext uri="{9D8B030D-6E8A-4147-A177-3AD203B41FA5}">
                      <a16:colId xmlns:a16="http://schemas.microsoft.com/office/drawing/2014/main" val="2719764452"/>
                    </a:ext>
                  </a:extLst>
                </a:gridCol>
              </a:tblGrid>
              <a:tr h="913385">
                <a:tc>
                  <a:txBody>
                    <a:bodyPr/>
                    <a:lstStyle/>
                    <a:p>
                      <a:pPr>
                        <a:buNone/>
                      </a:pPr>
                      <a:r>
                        <a:rPr lang="en-IN" sz="2800" b="1" dirty="0"/>
                        <a:t>Test Case No</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dirty="0"/>
                        <a:t>Input</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233538"/>
                  </a:ext>
                </a:extLst>
              </a:tr>
              <a:tr h="1330932">
                <a:tc>
                  <a:txBody>
                    <a:bodyPr/>
                    <a:lstStyle/>
                    <a:p>
                      <a:pPr>
                        <a:buNone/>
                      </a:pPr>
                      <a:r>
                        <a:rPr lang="en-IN" sz="2800" b="1"/>
                        <a:t>UI_01</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Verify homepage loads properly</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Launch app</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Homepage should display without errors</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02023326"/>
                  </a:ext>
                </a:extLst>
              </a:tr>
              <a:tr h="1330932">
                <a:tc>
                  <a:txBody>
                    <a:bodyPr/>
                    <a:lstStyle/>
                    <a:p>
                      <a:pPr>
                        <a:buNone/>
                      </a:pPr>
                      <a:r>
                        <a:rPr lang="en-IN" sz="2800" b="1"/>
                        <a:t>UI_02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Check navigation to Image Detection page</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a:t>
                      </a:r>
                      <a:r>
                        <a:rPr lang="en-IN" sz="2800" b="1"/>
                        <a:t>Image Detection</a:t>
                      </a:r>
                      <a:r>
                        <a:rPr lang="en-IN" sz="2800"/>
                        <a: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Image detection page should open</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59002446"/>
                  </a:ext>
                </a:extLst>
              </a:tr>
              <a:tr h="1330932">
                <a:tc>
                  <a:txBody>
                    <a:bodyPr/>
                    <a:lstStyle/>
                    <a:p>
                      <a:pPr>
                        <a:buNone/>
                      </a:pPr>
                      <a:r>
                        <a:rPr lang="en-IN" sz="2800" b="1"/>
                        <a:t>UI_03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Check navigation to Video Detection page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a:t>
                      </a:r>
                      <a:r>
                        <a:rPr lang="en-IN" sz="2800" b="1"/>
                        <a:t>Video Detection</a:t>
                      </a:r>
                      <a:r>
                        <a:rPr lang="en-IN" sz="2800"/>
                        <a: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dirty="0"/>
                        <a:t>Video detection page should open</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1987796"/>
                  </a:ext>
                </a:extLst>
              </a:tr>
              <a:tr h="1330932">
                <a:tc>
                  <a:txBody>
                    <a:bodyPr/>
                    <a:lstStyle/>
                    <a:p>
                      <a:pPr>
                        <a:buNone/>
                      </a:pPr>
                      <a:r>
                        <a:rPr lang="en-IN" sz="2800" b="1"/>
                        <a:t>UI_04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Responsive layout check</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Open app in mobile view</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Layout should adjust and remain readable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90031976"/>
                  </a:ext>
                </a:extLst>
              </a:tr>
              <a:tr h="1330932">
                <a:tc>
                  <a:txBody>
                    <a:bodyPr/>
                    <a:lstStyle/>
                    <a:p>
                      <a:pPr>
                        <a:buNone/>
                      </a:pPr>
                      <a:r>
                        <a:rPr lang="en-IN" sz="2800" b="1"/>
                        <a:t>UI_05</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Drag-and-drop file upload UI</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Drag image/video onto upload area</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File should be previewed or accepted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11579791"/>
                  </a:ext>
                </a:extLst>
              </a:tr>
            </a:tbl>
          </a:graphicData>
        </a:graphic>
      </p:graphicFrame>
      <p:sp>
        <p:nvSpPr>
          <p:cNvPr id="6" name="TextBox 5">
            <a:extLst>
              <a:ext uri="{FF2B5EF4-FFF2-40B4-BE49-F238E27FC236}">
                <a16:creationId xmlns:a16="http://schemas.microsoft.com/office/drawing/2014/main" id="{DCC21DC2-03F7-CAB0-AFB3-0741A9C4F0BD}"/>
              </a:ext>
            </a:extLst>
          </p:cNvPr>
          <p:cNvSpPr txBox="1"/>
          <p:nvPr/>
        </p:nvSpPr>
        <p:spPr>
          <a:xfrm>
            <a:off x="685800" y="1747511"/>
            <a:ext cx="2044149"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UI Testing</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6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5069C32-F508-2EBC-2880-AB08B9239BE5}"/>
              </a:ext>
            </a:extLst>
          </p:cNvPr>
          <p:cNvGraphicFramePr>
            <a:graphicFrameLocks noGrp="1"/>
          </p:cNvGraphicFramePr>
          <p:nvPr>
            <p:extLst>
              <p:ext uri="{D42A27DB-BD31-4B8C-83A1-F6EECF244321}">
                <p14:modId xmlns:p14="http://schemas.microsoft.com/office/powerpoint/2010/main" val="635410968"/>
              </p:ext>
            </p:extLst>
          </p:nvPr>
        </p:nvGraphicFramePr>
        <p:xfrm>
          <a:off x="990600" y="1638300"/>
          <a:ext cx="16051210" cy="8229600"/>
        </p:xfrm>
        <a:graphic>
          <a:graphicData uri="http://schemas.openxmlformats.org/drawingml/2006/table">
            <a:tbl>
              <a:tblPr>
                <a:tableStyleId>{BC89EF96-8CEA-46FF-86C4-4CE0E7609802}</a:tableStyleId>
              </a:tblPr>
              <a:tblGrid>
                <a:gridCol w="3210242">
                  <a:extLst>
                    <a:ext uri="{9D8B030D-6E8A-4147-A177-3AD203B41FA5}">
                      <a16:colId xmlns:a16="http://schemas.microsoft.com/office/drawing/2014/main" val="2301469657"/>
                    </a:ext>
                  </a:extLst>
                </a:gridCol>
                <a:gridCol w="3210242">
                  <a:extLst>
                    <a:ext uri="{9D8B030D-6E8A-4147-A177-3AD203B41FA5}">
                      <a16:colId xmlns:a16="http://schemas.microsoft.com/office/drawing/2014/main" val="2518289044"/>
                    </a:ext>
                  </a:extLst>
                </a:gridCol>
                <a:gridCol w="3210242">
                  <a:extLst>
                    <a:ext uri="{9D8B030D-6E8A-4147-A177-3AD203B41FA5}">
                      <a16:colId xmlns:a16="http://schemas.microsoft.com/office/drawing/2014/main" val="3774710690"/>
                    </a:ext>
                  </a:extLst>
                </a:gridCol>
                <a:gridCol w="3210242">
                  <a:extLst>
                    <a:ext uri="{9D8B030D-6E8A-4147-A177-3AD203B41FA5}">
                      <a16:colId xmlns:a16="http://schemas.microsoft.com/office/drawing/2014/main" val="2923560423"/>
                    </a:ext>
                  </a:extLst>
                </a:gridCol>
                <a:gridCol w="3210242">
                  <a:extLst>
                    <a:ext uri="{9D8B030D-6E8A-4147-A177-3AD203B41FA5}">
                      <a16:colId xmlns:a16="http://schemas.microsoft.com/office/drawing/2014/main" val="3029029210"/>
                    </a:ext>
                  </a:extLst>
                </a:gridCol>
              </a:tblGrid>
              <a:tr h="0">
                <a:tc>
                  <a:txBody>
                    <a:bodyPr/>
                    <a:lstStyle/>
                    <a:p>
                      <a:pPr>
                        <a:buNone/>
                      </a:pPr>
                      <a:r>
                        <a:rPr lang="en-IN" sz="2800" b="1" dirty="0"/>
                        <a:t>Test Case No</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Input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24968218"/>
                  </a:ext>
                </a:extLst>
              </a:tr>
              <a:tr h="0">
                <a:tc>
                  <a:txBody>
                    <a:bodyPr/>
                    <a:lstStyle/>
                    <a:p>
                      <a:pPr>
                        <a:buNone/>
                      </a:pPr>
                      <a:r>
                        <a:rPr lang="en-IN" sz="2800" b="1"/>
                        <a:t>IMG_01</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valid image file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.jpg / .</a:t>
                      </a:r>
                      <a:r>
                        <a:rPr lang="en-IN" sz="2800" dirty="0" err="1"/>
                        <a:t>png</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detect and show </a:t>
                      </a:r>
                      <a:r>
                        <a:rPr lang="en-US" sz="2800" b="1"/>
                        <a:t>Real or Deepfake</a:t>
                      </a:r>
                      <a:r>
                        <a:rPr lang="en-US" sz="2800"/>
                        <a:t> with confidence score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38843761"/>
                  </a:ext>
                </a:extLst>
              </a:tr>
              <a:tr h="0">
                <a:tc>
                  <a:txBody>
                    <a:bodyPr/>
                    <a:lstStyle/>
                    <a:p>
                      <a:pPr>
                        <a:buNone/>
                      </a:pPr>
                      <a:r>
                        <a:rPr lang="en-IN" sz="2800" b="1"/>
                        <a:t>IMG_02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invalid format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.exe / .txt / .zip</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message: </a:t>
                      </a:r>
                      <a:r>
                        <a:rPr lang="en-US" sz="2800" b="1"/>
                        <a:t>“Invalid image format”</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5822927"/>
                  </a:ext>
                </a:extLst>
              </a:tr>
              <a:tr h="0">
                <a:tc>
                  <a:txBody>
                    <a:bodyPr/>
                    <a:lstStyle/>
                    <a:p>
                      <a:pPr>
                        <a:buNone/>
                      </a:pPr>
                      <a:r>
                        <a:rPr lang="en-IN" sz="2800" b="1"/>
                        <a:t>IMG_03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Submit without selecting an image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detect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file selected”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64161541"/>
                  </a:ext>
                </a:extLst>
              </a:tr>
              <a:tr h="0">
                <a:tc>
                  <a:txBody>
                    <a:bodyPr/>
                    <a:lstStyle/>
                    <a:p>
                      <a:pPr>
                        <a:buNone/>
                      </a:pPr>
                      <a:r>
                        <a:rPr lang="en-IN" sz="2800" b="1"/>
                        <a:t>IMG_04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corrupted image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Broken or unreadable file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“Unable to process image”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44476185"/>
                  </a:ext>
                </a:extLst>
              </a:tr>
              <a:tr h="0">
                <a:tc>
                  <a:txBody>
                    <a:bodyPr/>
                    <a:lstStyle/>
                    <a:p>
                      <a:pPr>
                        <a:buNone/>
                      </a:pPr>
                      <a:r>
                        <a:rPr lang="en-IN" sz="2800" b="1" dirty="0"/>
                        <a:t>IMG_05</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Large resolution image check</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4K image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resize and detect without crashing</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36964834"/>
                  </a:ext>
                </a:extLst>
              </a:tr>
            </a:tbl>
          </a:graphicData>
        </a:graphic>
      </p:graphicFrame>
      <p:sp>
        <p:nvSpPr>
          <p:cNvPr id="4" name="TextBox 3">
            <a:extLst>
              <a:ext uri="{FF2B5EF4-FFF2-40B4-BE49-F238E27FC236}">
                <a16:creationId xmlns:a16="http://schemas.microsoft.com/office/drawing/2014/main" id="{D6CC9AEC-988B-427C-11A8-C888BF2DB634}"/>
              </a:ext>
            </a:extLst>
          </p:cNvPr>
          <p:cNvSpPr txBox="1"/>
          <p:nvPr/>
        </p:nvSpPr>
        <p:spPr>
          <a:xfrm>
            <a:off x="962891" y="800100"/>
            <a:ext cx="3243196"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Image Test Cases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20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C8566C-2F82-85E3-7E99-BD7DB9975121}"/>
              </a:ext>
            </a:extLst>
          </p:cNvPr>
          <p:cNvSpPr txBox="1"/>
          <p:nvPr/>
        </p:nvSpPr>
        <p:spPr>
          <a:xfrm>
            <a:off x="838200" y="571500"/>
            <a:ext cx="3174267"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Video Test Cases</a:t>
            </a:r>
            <a:endParaRPr lang="en-IN" sz="32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A7FBD66-05CD-F3A5-D559-5C10BB3B7BA3}"/>
              </a:ext>
            </a:extLst>
          </p:cNvPr>
          <p:cNvGraphicFramePr>
            <a:graphicFrameLocks noGrp="1"/>
          </p:cNvGraphicFramePr>
          <p:nvPr>
            <p:extLst>
              <p:ext uri="{D42A27DB-BD31-4B8C-83A1-F6EECF244321}">
                <p14:modId xmlns:p14="http://schemas.microsoft.com/office/powerpoint/2010/main" val="3520915348"/>
              </p:ext>
            </p:extLst>
          </p:nvPr>
        </p:nvGraphicFramePr>
        <p:xfrm>
          <a:off x="741218" y="1630680"/>
          <a:ext cx="16860980" cy="8523506"/>
        </p:xfrm>
        <a:graphic>
          <a:graphicData uri="http://schemas.openxmlformats.org/drawingml/2006/table">
            <a:tbl>
              <a:tblPr>
                <a:tableStyleId>{BC89EF96-8CEA-46FF-86C4-4CE0E7609802}</a:tableStyleId>
              </a:tblPr>
              <a:tblGrid>
                <a:gridCol w="3372196">
                  <a:extLst>
                    <a:ext uri="{9D8B030D-6E8A-4147-A177-3AD203B41FA5}">
                      <a16:colId xmlns:a16="http://schemas.microsoft.com/office/drawing/2014/main" val="1282352444"/>
                    </a:ext>
                  </a:extLst>
                </a:gridCol>
                <a:gridCol w="3372196">
                  <a:extLst>
                    <a:ext uri="{9D8B030D-6E8A-4147-A177-3AD203B41FA5}">
                      <a16:colId xmlns:a16="http://schemas.microsoft.com/office/drawing/2014/main" val="3247688773"/>
                    </a:ext>
                  </a:extLst>
                </a:gridCol>
                <a:gridCol w="3372196">
                  <a:extLst>
                    <a:ext uri="{9D8B030D-6E8A-4147-A177-3AD203B41FA5}">
                      <a16:colId xmlns:a16="http://schemas.microsoft.com/office/drawing/2014/main" val="836382324"/>
                    </a:ext>
                  </a:extLst>
                </a:gridCol>
                <a:gridCol w="3372196">
                  <a:extLst>
                    <a:ext uri="{9D8B030D-6E8A-4147-A177-3AD203B41FA5}">
                      <a16:colId xmlns:a16="http://schemas.microsoft.com/office/drawing/2014/main" val="1826074588"/>
                    </a:ext>
                  </a:extLst>
                </a:gridCol>
                <a:gridCol w="3372196">
                  <a:extLst>
                    <a:ext uri="{9D8B030D-6E8A-4147-A177-3AD203B41FA5}">
                      <a16:colId xmlns:a16="http://schemas.microsoft.com/office/drawing/2014/main" val="714852614"/>
                    </a:ext>
                  </a:extLst>
                </a:gridCol>
              </a:tblGrid>
              <a:tr h="899133">
                <a:tc>
                  <a:txBody>
                    <a:bodyPr/>
                    <a:lstStyle/>
                    <a:p>
                      <a:pPr>
                        <a:buNone/>
                      </a:pPr>
                      <a:r>
                        <a:rPr lang="en-IN" sz="2800" b="1"/>
                        <a:t>Case No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Input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42672541"/>
                  </a:ext>
                </a:extLst>
              </a:tr>
              <a:tr h="1711253">
                <a:tc>
                  <a:txBody>
                    <a:bodyPr/>
                    <a:lstStyle/>
                    <a:p>
                      <a:pPr>
                        <a:buNone/>
                      </a:pPr>
                      <a:r>
                        <a:rPr lang="en-IN" sz="2800" b="1" dirty="0"/>
                        <a:t>VID_01</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Upload valid video file</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.mp4 / .avi</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analyze frames and show final result with statistics</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53922674"/>
                  </a:ext>
                </a:extLst>
              </a:tr>
              <a:tr h="1711253">
                <a:tc>
                  <a:txBody>
                    <a:bodyPr/>
                    <a:lstStyle/>
                    <a:p>
                      <a:pPr>
                        <a:buNone/>
                      </a:pPr>
                      <a:r>
                        <a:rPr lang="en-IN" sz="2800" b="1"/>
                        <a:t>VID_02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unsupported format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.gif / .webm</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display </a:t>
                      </a:r>
                      <a:r>
                        <a:rPr lang="en-US" sz="2800" b="1"/>
                        <a:t>“Unsupported video format”</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00508494"/>
                  </a:ext>
                </a:extLst>
              </a:tr>
              <a:tr h="899133">
                <a:tc>
                  <a:txBody>
                    <a:bodyPr/>
                    <a:lstStyle/>
                    <a:p>
                      <a:pPr>
                        <a:buNone/>
                      </a:pPr>
                      <a:r>
                        <a:rPr lang="en-IN" sz="2800" b="1"/>
                        <a:t>VID_03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Submit without uploading video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detect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file selected”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03335780"/>
                  </a:ext>
                </a:extLst>
              </a:tr>
              <a:tr h="1711253">
                <a:tc>
                  <a:txBody>
                    <a:bodyPr/>
                    <a:lstStyle/>
                    <a:p>
                      <a:pPr>
                        <a:buNone/>
                      </a:pPr>
                      <a:r>
                        <a:rPr lang="en-IN" sz="2800" b="1"/>
                        <a:t>VID_04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Test processing of long video</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Video longer than 2 min</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process without crashing (processing may take time)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8028368"/>
                  </a:ext>
                </a:extLst>
              </a:tr>
              <a:tr h="1305193">
                <a:tc>
                  <a:txBody>
                    <a:bodyPr/>
                    <a:lstStyle/>
                    <a:p>
                      <a:pPr>
                        <a:buNone/>
                      </a:pPr>
                      <a:r>
                        <a:rPr lang="en-IN" sz="2800" b="1"/>
                        <a:t>VID_05</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Video with no face detected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Random scenery video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face detected”</a:t>
                      </a:r>
                      <a:r>
                        <a:rPr lang="en-US" sz="2800"/>
                        <a:t> message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7123959"/>
                  </a:ext>
                </a:extLst>
              </a:tr>
            </a:tbl>
          </a:graphicData>
        </a:graphic>
      </p:graphicFrame>
    </p:spTree>
    <p:extLst>
      <p:ext uri="{BB962C8B-B14F-4D97-AF65-F5344CB8AC3E}">
        <p14:creationId xmlns:p14="http://schemas.microsoft.com/office/powerpoint/2010/main" val="128350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C9207-A479-6FB4-F7DE-B0CD507ECECA}"/>
              </a:ext>
            </a:extLst>
          </p:cNvPr>
          <p:cNvSpPr>
            <a:spLocks noGrp="1"/>
          </p:cNvSpPr>
          <p:nvPr>
            <p:ph type="title"/>
          </p:nvPr>
        </p:nvSpPr>
        <p:spPr>
          <a:xfrm>
            <a:off x="457200" y="571500"/>
            <a:ext cx="14630399" cy="1384995"/>
          </a:xfrm>
        </p:spPr>
        <p:txBody>
          <a:bodyPr/>
          <a:lstStyle/>
          <a:p>
            <a:r>
              <a:rPr lang="en-IN" dirty="0"/>
              <a:t>RESULT (SNAP SHOTS)</a:t>
            </a:r>
          </a:p>
        </p:txBody>
      </p:sp>
      <p:pic>
        <p:nvPicPr>
          <p:cNvPr id="4" name="Picture 3">
            <a:extLst>
              <a:ext uri="{FF2B5EF4-FFF2-40B4-BE49-F238E27FC236}">
                <a16:creationId xmlns:a16="http://schemas.microsoft.com/office/drawing/2014/main" id="{65903354-2D5C-3B8B-43B4-B69ADDE2A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194" y="2247900"/>
            <a:ext cx="14993612" cy="7275848"/>
          </a:xfrm>
          <a:prstGeom prst="rect">
            <a:avLst/>
          </a:prstGeom>
        </p:spPr>
      </p:pic>
    </p:spTree>
    <p:extLst>
      <p:ext uri="{BB962C8B-B14F-4D97-AF65-F5344CB8AC3E}">
        <p14:creationId xmlns:p14="http://schemas.microsoft.com/office/powerpoint/2010/main" val="1717958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E2598A-EC12-A1BF-60CC-E069578CF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09" y="1764648"/>
            <a:ext cx="8857694" cy="8077200"/>
          </a:xfrm>
          <a:prstGeom prst="rect">
            <a:avLst/>
          </a:prstGeom>
        </p:spPr>
      </p:pic>
      <p:pic>
        <p:nvPicPr>
          <p:cNvPr id="7" name="Picture 6">
            <a:extLst>
              <a:ext uri="{FF2B5EF4-FFF2-40B4-BE49-F238E27FC236}">
                <a16:creationId xmlns:a16="http://schemas.microsoft.com/office/drawing/2014/main" id="{E2E1CBD6-6215-F651-5678-2274AFDFB6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7698" y="1808567"/>
            <a:ext cx="8488327" cy="8033282"/>
          </a:xfrm>
          <a:prstGeom prst="rect">
            <a:avLst/>
          </a:prstGeom>
        </p:spPr>
      </p:pic>
      <p:sp>
        <p:nvSpPr>
          <p:cNvPr id="8" name="TextBox 7">
            <a:extLst>
              <a:ext uri="{FF2B5EF4-FFF2-40B4-BE49-F238E27FC236}">
                <a16:creationId xmlns:a16="http://schemas.microsoft.com/office/drawing/2014/main" id="{1A7DD6FC-349E-335C-A0DF-DDFB87804C8F}"/>
              </a:ext>
            </a:extLst>
          </p:cNvPr>
          <p:cNvSpPr txBox="1"/>
          <p:nvPr/>
        </p:nvSpPr>
        <p:spPr>
          <a:xfrm>
            <a:off x="533400" y="723900"/>
            <a:ext cx="5687776" cy="769441"/>
          </a:xfrm>
          <a:prstGeom prst="rect">
            <a:avLst/>
          </a:prstGeom>
          <a:noFill/>
        </p:spPr>
        <p:txBody>
          <a:bodyPr wrap="none" rtlCol="0">
            <a:spAutoFit/>
          </a:bodyPr>
          <a:lstStyle/>
          <a:p>
            <a:r>
              <a:rPr lang="en-IN" sz="4400" b="1" dirty="0">
                <a:latin typeface="Times New Roman" panose="02020603050405020304" pitchFamily="18" charset="0"/>
                <a:cs typeface="Times New Roman" panose="02020603050405020304" pitchFamily="18" charset="0"/>
              </a:rPr>
              <a:t>IMAGE DETECTION</a:t>
            </a:r>
          </a:p>
        </p:txBody>
      </p:sp>
    </p:spTree>
    <p:extLst>
      <p:ext uri="{BB962C8B-B14F-4D97-AF65-F5344CB8AC3E}">
        <p14:creationId xmlns:p14="http://schemas.microsoft.com/office/powerpoint/2010/main" val="1619768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1EB6E-34A9-D747-F8E5-44D9DFFC64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2476500"/>
            <a:ext cx="5763270" cy="6916277"/>
          </a:xfrm>
          <a:prstGeom prst="rect">
            <a:avLst/>
          </a:prstGeom>
        </p:spPr>
      </p:pic>
      <p:pic>
        <p:nvPicPr>
          <p:cNvPr id="5" name="Picture 4">
            <a:extLst>
              <a:ext uri="{FF2B5EF4-FFF2-40B4-BE49-F238E27FC236}">
                <a16:creationId xmlns:a16="http://schemas.microsoft.com/office/drawing/2014/main" id="{28BDC194-1DFF-CF32-A9C3-AF83A8571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0300" y="2247900"/>
            <a:ext cx="6077700" cy="6916278"/>
          </a:xfrm>
          <a:prstGeom prst="rect">
            <a:avLst/>
          </a:prstGeom>
        </p:spPr>
      </p:pic>
      <p:pic>
        <p:nvPicPr>
          <p:cNvPr id="7" name="Picture 6">
            <a:extLst>
              <a:ext uri="{FF2B5EF4-FFF2-40B4-BE49-F238E27FC236}">
                <a16:creationId xmlns:a16="http://schemas.microsoft.com/office/drawing/2014/main" id="{C2ECF10D-39C8-20D6-C193-F079326638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2095500"/>
            <a:ext cx="6306359" cy="7861851"/>
          </a:xfrm>
          <a:prstGeom prst="rect">
            <a:avLst/>
          </a:prstGeom>
        </p:spPr>
      </p:pic>
      <p:sp>
        <p:nvSpPr>
          <p:cNvPr id="8" name="TextBox 7">
            <a:extLst>
              <a:ext uri="{FF2B5EF4-FFF2-40B4-BE49-F238E27FC236}">
                <a16:creationId xmlns:a16="http://schemas.microsoft.com/office/drawing/2014/main" id="{54FA2BE3-649E-1497-156E-130F0E317E31}"/>
              </a:ext>
            </a:extLst>
          </p:cNvPr>
          <p:cNvSpPr txBox="1"/>
          <p:nvPr/>
        </p:nvSpPr>
        <p:spPr>
          <a:xfrm>
            <a:off x="381000" y="952500"/>
            <a:ext cx="5070619"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VIDEO DETECTION</a:t>
            </a:r>
          </a:p>
        </p:txBody>
      </p:sp>
    </p:spTree>
    <p:extLst>
      <p:ext uri="{BB962C8B-B14F-4D97-AF65-F5344CB8AC3E}">
        <p14:creationId xmlns:p14="http://schemas.microsoft.com/office/powerpoint/2010/main" val="3919305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359B-8BA9-8553-EA07-BAA9E8BE4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1371288"/>
            <a:ext cx="8077200" cy="8353980"/>
          </a:xfrm>
          <a:prstGeom prst="rect">
            <a:avLst/>
          </a:prstGeom>
        </p:spPr>
      </p:pic>
      <p:pic>
        <p:nvPicPr>
          <p:cNvPr id="5" name="Picture 4">
            <a:extLst>
              <a:ext uri="{FF2B5EF4-FFF2-40B4-BE49-F238E27FC236}">
                <a16:creationId xmlns:a16="http://schemas.microsoft.com/office/drawing/2014/main" id="{568BD0FE-8DA8-EBEF-48EE-786C4AA87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056141"/>
            <a:ext cx="7010400" cy="8686445"/>
          </a:xfrm>
          <a:prstGeom prst="rect">
            <a:avLst/>
          </a:prstGeom>
        </p:spPr>
      </p:pic>
      <p:sp>
        <p:nvSpPr>
          <p:cNvPr id="6" name="TextBox 5">
            <a:extLst>
              <a:ext uri="{FF2B5EF4-FFF2-40B4-BE49-F238E27FC236}">
                <a16:creationId xmlns:a16="http://schemas.microsoft.com/office/drawing/2014/main" id="{535CF243-BB35-4DDA-86A2-0E82CC36549F}"/>
              </a:ext>
            </a:extLst>
          </p:cNvPr>
          <p:cNvSpPr txBox="1"/>
          <p:nvPr/>
        </p:nvSpPr>
        <p:spPr>
          <a:xfrm>
            <a:off x="990600" y="348255"/>
            <a:ext cx="5423280"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ANALYSED REPORT </a:t>
            </a:r>
          </a:p>
        </p:txBody>
      </p:sp>
    </p:spTree>
    <p:extLst>
      <p:ext uri="{BB962C8B-B14F-4D97-AF65-F5344CB8AC3E}">
        <p14:creationId xmlns:p14="http://schemas.microsoft.com/office/powerpoint/2010/main" val="3534759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95906C-0A17-F009-580B-C2EEC5B564EA}"/>
              </a:ext>
            </a:extLst>
          </p:cNvPr>
          <p:cNvSpPr txBox="1"/>
          <p:nvPr/>
        </p:nvSpPr>
        <p:spPr>
          <a:xfrm>
            <a:off x="1219200" y="2476501"/>
            <a:ext cx="15087600" cy="353943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The</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AI-Powered Deepfake and Liveness Detection project demonstrates an effective method for detecting deepfake images and videos using deep learning. With the help of a lightweight </a:t>
            </a:r>
            <a:r>
              <a:rPr lang="en-US" sz="3200" dirty="0" err="1">
                <a:latin typeface="Times New Roman" panose="02020603050405020304" pitchFamily="18" charset="0"/>
                <a:cs typeface="Times New Roman" panose="02020603050405020304" pitchFamily="18" charset="0"/>
              </a:rPr>
              <a:t>MobileNet</a:t>
            </a:r>
            <a:r>
              <a:rPr lang="en-US" sz="3200" dirty="0">
                <a:latin typeface="Times New Roman" panose="02020603050405020304" pitchFamily="18" charset="0"/>
                <a:cs typeface="Times New Roman" panose="02020603050405020304" pitchFamily="18" charset="0"/>
              </a:rPr>
              <a:t> model and transfer learning, the system can reliably classify real and fake media. The web interface enables users to easily upload files and obtain results with confidence scores. This project proves that AI can play an important role in stopping the spread of deepfakes and ensuring digital media security. In the future, the system can be improved for better accuracy and to handle new deepfake techniques.</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8B0106-33CE-FF3D-EC83-83C0EA261DA1}"/>
              </a:ext>
            </a:extLst>
          </p:cNvPr>
          <p:cNvSpPr txBox="1"/>
          <p:nvPr/>
        </p:nvSpPr>
        <p:spPr>
          <a:xfrm>
            <a:off x="1219200" y="1028700"/>
            <a:ext cx="5920210" cy="1107996"/>
          </a:xfrm>
          <a:prstGeom prst="rect">
            <a:avLst/>
          </a:prstGeom>
          <a:noFill/>
        </p:spPr>
        <p:txBody>
          <a:bodyPr wrap="none" rtlCol="0">
            <a:spAutoFit/>
          </a:bodyPr>
          <a:lstStyle/>
          <a:p>
            <a:r>
              <a:rPr lang="en-IN" sz="66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347139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4763515" y="373777"/>
            <a:ext cx="8581659" cy="1397819"/>
          </a:xfrm>
          <a:prstGeom prst="rect">
            <a:avLst/>
          </a:prstGeom>
        </p:spPr>
        <p:txBody>
          <a:bodyPr vert="horz" wrap="square" lIns="0" tIns="12700" rIns="0" bIns="0" rtlCol="0">
            <a:spAutoFit/>
          </a:bodyPr>
          <a:lstStyle/>
          <a:p>
            <a:pPr marL="12700">
              <a:lnSpc>
                <a:spcPct val="100000"/>
              </a:lnSpc>
              <a:spcBef>
                <a:spcPts val="100"/>
              </a:spcBef>
            </a:pPr>
            <a:r>
              <a:rPr lang="en-IN" spc="375" dirty="0"/>
              <a:t>REFERENCES</a:t>
            </a:r>
            <a:endParaRPr spc="375" dirty="0"/>
          </a:p>
        </p:txBody>
      </p:sp>
      <p:grpSp>
        <p:nvGrpSpPr>
          <p:cNvPr id="19" name="object 19"/>
          <p:cNvGrpSpPr/>
          <p:nvPr/>
        </p:nvGrpSpPr>
        <p:grpSpPr>
          <a:xfrm>
            <a:off x="12921170" y="5811176"/>
            <a:ext cx="848360" cy="560070"/>
            <a:chOff x="12921170" y="5811176"/>
            <a:chExt cx="848360" cy="560070"/>
          </a:xfrm>
        </p:grpSpPr>
        <p:sp>
          <p:nvSpPr>
            <p:cNvPr id="21" name="object 21"/>
            <p:cNvSpPr/>
            <p:nvPr/>
          </p:nvSpPr>
          <p:spPr>
            <a:xfrm>
              <a:off x="12921170" y="5811176"/>
              <a:ext cx="848360" cy="560070"/>
            </a:xfrm>
            <a:custGeom>
              <a:avLst/>
              <a:gdLst/>
              <a:ahLst/>
              <a:cxnLst/>
              <a:rect l="l" t="t" r="r" b="b"/>
              <a:pathLst>
                <a:path w="848359" h="560070">
                  <a:moveTo>
                    <a:pt x="625805" y="279400"/>
                  </a:moveTo>
                  <a:lnTo>
                    <a:pt x="625741" y="278130"/>
                  </a:lnTo>
                  <a:lnTo>
                    <a:pt x="622896" y="214630"/>
                  </a:lnTo>
                  <a:lnTo>
                    <a:pt x="614578" y="154940"/>
                  </a:lnTo>
                  <a:lnTo>
                    <a:pt x="612584" y="147015"/>
                  </a:lnTo>
                  <a:lnTo>
                    <a:pt x="612584" y="279400"/>
                  </a:lnTo>
                  <a:lnTo>
                    <a:pt x="608990" y="349250"/>
                  </a:lnTo>
                  <a:lnTo>
                    <a:pt x="598868" y="412750"/>
                  </a:lnTo>
                  <a:lnTo>
                    <a:pt x="583260" y="467360"/>
                  </a:lnTo>
                  <a:lnTo>
                    <a:pt x="563181" y="509270"/>
                  </a:lnTo>
                  <a:lnTo>
                    <a:pt x="513740" y="546100"/>
                  </a:lnTo>
                  <a:lnTo>
                    <a:pt x="504240" y="544830"/>
                  </a:lnTo>
                  <a:lnTo>
                    <a:pt x="471424" y="519430"/>
                  </a:lnTo>
                  <a:lnTo>
                    <a:pt x="468909" y="516890"/>
                  </a:lnTo>
                  <a:lnTo>
                    <a:pt x="468439" y="515620"/>
                  </a:lnTo>
                  <a:lnTo>
                    <a:pt x="456742" y="496570"/>
                  </a:lnTo>
                  <a:lnTo>
                    <a:pt x="448932" y="478790"/>
                  </a:lnTo>
                  <a:lnTo>
                    <a:pt x="446151" y="472440"/>
                  </a:lnTo>
                  <a:lnTo>
                    <a:pt x="436829" y="444500"/>
                  </a:lnTo>
                  <a:lnTo>
                    <a:pt x="434416" y="435178"/>
                  </a:lnTo>
                  <a:lnTo>
                    <a:pt x="434416" y="478790"/>
                  </a:lnTo>
                  <a:lnTo>
                    <a:pt x="398602" y="449580"/>
                  </a:lnTo>
                  <a:lnTo>
                    <a:pt x="358648" y="422910"/>
                  </a:lnTo>
                  <a:lnTo>
                    <a:pt x="314642" y="401320"/>
                  </a:lnTo>
                  <a:lnTo>
                    <a:pt x="276275" y="386080"/>
                  </a:lnTo>
                  <a:lnTo>
                    <a:pt x="266687" y="382270"/>
                  </a:lnTo>
                  <a:lnTo>
                    <a:pt x="258318" y="379730"/>
                  </a:lnTo>
                  <a:lnTo>
                    <a:pt x="252120" y="377190"/>
                  </a:lnTo>
                  <a:lnTo>
                    <a:pt x="251498" y="377075"/>
                  </a:lnTo>
                  <a:lnTo>
                    <a:pt x="251498" y="391160"/>
                  </a:lnTo>
                  <a:lnTo>
                    <a:pt x="248373" y="400050"/>
                  </a:lnTo>
                  <a:lnTo>
                    <a:pt x="243789" y="407670"/>
                  </a:lnTo>
                  <a:lnTo>
                    <a:pt x="237985" y="412750"/>
                  </a:lnTo>
                  <a:lnTo>
                    <a:pt x="231254" y="416560"/>
                  </a:lnTo>
                  <a:lnTo>
                    <a:pt x="231254" y="386080"/>
                  </a:lnTo>
                  <a:lnTo>
                    <a:pt x="242481" y="388620"/>
                  </a:lnTo>
                  <a:lnTo>
                    <a:pt x="251498" y="391160"/>
                  </a:lnTo>
                  <a:lnTo>
                    <a:pt x="251498" y="377075"/>
                  </a:lnTo>
                  <a:lnTo>
                    <a:pt x="245643" y="375920"/>
                  </a:lnTo>
                  <a:lnTo>
                    <a:pt x="239204" y="373380"/>
                  </a:lnTo>
                  <a:lnTo>
                    <a:pt x="232829" y="372110"/>
                  </a:lnTo>
                  <a:lnTo>
                    <a:pt x="226542" y="369570"/>
                  </a:lnTo>
                  <a:lnTo>
                    <a:pt x="218478" y="368541"/>
                  </a:lnTo>
                  <a:lnTo>
                    <a:pt x="218478" y="382270"/>
                  </a:lnTo>
                  <a:lnTo>
                    <a:pt x="218478" y="506730"/>
                  </a:lnTo>
                  <a:lnTo>
                    <a:pt x="215353" y="523240"/>
                  </a:lnTo>
                  <a:lnTo>
                    <a:pt x="206870" y="534670"/>
                  </a:lnTo>
                  <a:lnTo>
                    <a:pt x="194271" y="543560"/>
                  </a:lnTo>
                  <a:lnTo>
                    <a:pt x="178879" y="547370"/>
                  </a:lnTo>
                  <a:lnTo>
                    <a:pt x="171081" y="546100"/>
                  </a:lnTo>
                  <a:lnTo>
                    <a:pt x="140042" y="515620"/>
                  </a:lnTo>
                  <a:lnTo>
                    <a:pt x="139280" y="506730"/>
                  </a:lnTo>
                  <a:lnTo>
                    <a:pt x="139280" y="368300"/>
                  </a:lnTo>
                  <a:lnTo>
                    <a:pt x="172745" y="372110"/>
                  </a:lnTo>
                  <a:lnTo>
                    <a:pt x="183934" y="374650"/>
                  </a:lnTo>
                  <a:lnTo>
                    <a:pt x="192646" y="375920"/>
                  </a:lnTo>
                  <a:lnTo>
                    <a:pt x="201320" y="378460"/>
                  </a:lnTo>
                  <a:lnTo>
                    <a:pt x="209931" y="379730"/>
                  </a:lnTo>
                  <a:lnTo>
                    <a:pt x="218478" y="382270"/>
                  </a:lnTo>
                  <a:lnTo>
                    <a:pt x="218478" y="368541"/>
                  </a:lnTo>
                  <a:lnTo>
                    <a:pt x="216662" y="368300"/>
                  </a:lnTo>
                  <a:lnTo>
                    <a:pt x="196570" y="363220"/>
                  </a:lnTo>
                  <a:lnTo>
                    <a:pt x="186397" y="361950"/>
                  </a:lnTo>
                  <a:lnTo>
                    <a:pt x="159804" y="356870"/>
                  </a:lnTo>
                  <a:lnTo>
                    <a:pt x="133527" y="354330"/>
                  </a:lnTo>
                  <a:lnTo>
                    <a:pt x="128600" y="354330"/>
                  </a:lnTo>
                  <a:lnTo>
                    <a:pt x="118656" y="353060"/>
                  </a:lnTo>
                  <a:lnTo>
                    <a:pt x="118376" y="351790"/>
                  </a:lnTo>
                  <a:lnTo>
                    <a:pt x="107454" y="303530"/>
                  </a:lnTo>
                  <a:lnTo>
                    <a:pt x="107327" y="279400"/>
                  </a:lnTo>
                  <a:lnTo>
                    <a:pt x="107226" y="260350"/>
                  </a:lnTo>
                  <a:lnTo>
                    <a:pt x="112699" y="226060"/>
                  </a:lnTo>
                  <a:lnTo>
                    <a:pt x="118541" y="205740"/>
                  </a:lnTo>
                  <a:lnTo>
                    <a:pt x="134607" y="204470"/>
                  </a:lnTo>
                  <a:lnTo>
                    <a:pt x="150672" y="203200"/>
                  </a:lnTo>
                  <a:lnTo>
                    <a:pt x="190322" y="199390"/>
                  </a:lnTo>
                  <a:lnTo>
                    <a:pt x="235572" y="189230"/>
                  </a:lnTo>
                  <a:lnTo>
                    <a:pt x="284492" y="173990"/>
                  </a:lnTo>
                  <a:lnTo>
                    <a:pt x="335153" y="152400"/>
                  </a:lnTo>
                  <a:lnTo>
                    <a:pt x="385635" y="121920"/>
                  </a:lnTo>
                  <a:lnTo>
                    <a:pt x="434009" y="81280"/>
                  </a:lnTo>
                  <a:lnTo>
                    <a:pt x="420484" y="121920"/>
                  </a:lnTo>
                  <a:lnTo>
                    <a:pt x="410311" y="170180"/>
                  </a:lnTo>
                  <a:lnTo>
                    <a:pt x="403910" y="222250"/>
                  </a:lnTo>
                  <a:lnTo>
                    <a:pt x="401688" y="279400"/>
                  </a:lnTo>
                  <a:lnTo>
                    <a:pt x="403936" y="336550"/>
                  </a:lnTo>
                  <a:lnTo>
                    <a:pt x="410425" y="389890"/>
                  </a:lnTo>
                  <a:lnTo>
                    <a:pt x="420725" y="438150"/>
                  </a:lnTo>
                  <a:lnTo>
                    <a:pt x="434416" y="478790"/>
                  </a:lnTo>
                  <a:lnTo>
                    <a:pt x="434416" y="435178"/>
                  </a:lnTo>
                  <a:lnTo>
                    <a:pt x="428942" y="414020"/>
                  </a:lnTo>
                  <a:lnTo>
                    <a:pt x="502158" y="401320"/>
                  </a:lnTo>
                  <a:lnTo>
                    <a:pt x="552170" y="386080"/>
                  </a:lnTo>
                  <a:lnTo>
                    <a:pt x="576491" y="321310"/>
                  </a:lnTo>
                  <a:lnTo>
                    <a:pt x="579628" y="279400"/>
                  </a:lnTo>
                  <a:lnTo>
                    <a:pt x="579526" y="278130"/>
                  </a:lnTo>
                  <a:lnTo>
                    <a:pt x="576478" y="237490"/>
                  </a:lnTo>
                  <a:lnTo>
                    <a:pt x="567207" y="200660"/>
                  </a:lnTo>
                  <a:lnTo>
                    <a:pt x="566407" y="199263"/>
                  </a:lnTo>
                  <a:lnTo>
                    <a:pt x="566407" y="279400"/>
                  </a:lnTo>
                  <a:lnTo>
                    <a:pt x="563194" y="321310"/>
                  </a:lnTo>
                  <a:lnTo>
                    <a:pt x="554850" y="354330"/>
                  </a:lnTo>
                  <a:lnTo>
                    <a:pt x="543318" y="375920"/>
                  </a:lnTo>
                  <a:lnTo>
                    <a:pt x="530580" y="383540"/>
                  </a:lnTo>
                  <a:lnTo>
                    <a:pt x="517829" y="375920"/>
                  </a:lnTo>
                  <a:lnTo>
                    <a:pt x="510095" y="361429"/>
                  </a:lnTo>
                  <a:lnTo>
                    <a:pt x="510095" y="386080"/>
                  </a:lnTo>
                  <a:lnTo>
                    <a:pt x="426250" y="401320"/>
                  </a:lnTo>
                  <a:lnTo>
                    <a:pt x="421424" y="373380"/>
                  </a:lnTo>
                  <a:lnTo>
                    <a:pt x="417868" y="342900"/>
                  </a:lnTo>
                  <a:lnTo>
                    <a:pt x="417779" y="341630"/>
                  </a:lnTo>
                  <a:lnTo>
                    <a:pt x="417677" y="340360"/>
                  </a:lnTo>
                  <a:lnTo>
                    <a:pt x="415658" y="312420"/>
                  </a:lnTo>
                  <a:lnTo>
                    <a:pt x="415594" y="309880"/>
                  </a:lnTo>
                  <a:lnTo>
                    <a:pt x="415480" y="304800"/>
                  </a:lnTo>
                  <a:lnTo>
                    <a:pt x="415417" y="302260"/>
                  </a:lnTo>
                  <a:lnTo>
                    <a:pt x="414896" y="279400"/>
                  </a:lnTo>
                  <a:lnTo>
                    <a:pt x="414921" y="278130"/>
                  </a:lnTo>
                  <a:lnTo>
                    <a:pt x="415556" y="250190"/>
                  </a:lnTo>
                  <a:lnTo>
                    <a:pt x="415671" y="247650"/>
                  </a:lnTo>
                  <a:lnTo>
                    <a:pt x="417601" y="218440"/>
                  </a:lnTo>
                  <a:lnTo>
                    <a:pt x="420852" y="190500"/>
                  </a:lnTo>
                  <a:lnTo>
                    <a:pt x="425259" y="162560"/>
                  </a:lnTo>
                  <a:lnTo>
                    <a:pt x="443649" y="166370"/>
                  </a:lnTo>
                  <a:lnTo>
                    <a:pt x="488518" y="171450"/>
                  </a:lnTo>
                  <a:lnTo>
                    <a:pt x="508850" y="173990"/>
                  </a:lnTo>
                  <a:lnTo>
                    <a:pt x="497052" y="193040"/>
                  </a:lnTo>
                  <a:lnTo>
                    <a:pt x="488492" y="218440"/>
                  </a:lnTo>
                  <a:lnTo>
                    <a:pt x="483285" y="247650"/>
                  </a:lnTo>
                  <a:lnTo>
                    <a:pt x="483222" y="248920"/>
                  </a:lnTo>
                  <a:lnTo>
                    <a:pt x="483146" y="250190"/>
                  </a:lnTo>
                  <a:lnTo>
                    <a:pt x="483374" y="311150"/>
                  </a:lnTo>
                  <a:lnTo>
                    <a:pt x="497751" y="368300"/>
                  </a:lnTo>
                  <a:lnTo>
                    <a:pt x="510095" y="386080"/>
                  </a:lnTo>
                  <a:lnTo>
                    <a:pt x="510095" y="361429"/>
                  </a:lnTo>
                  <a:lnTo>
                    <a:pt x="506310" y="354330"/>
                  </a:lnTo>
                  <a:lnTo>
                    <a:pt x="497967" y="321310"/>
                  </a:lnTo>
                  <a:lnTo>
                    <a:pt x="494741" y="279400"/>
                  </a:lnTo>
                  <a:lnTo>
                    <a:pt x="494842" y="278130"/>
                  </a:lnTo>
                  <a:lnTo>
                    <a:pt x="497967" y="237490"/>
                  </a:lnTo>
                  <a:lnTo>
                    <a:pt x="506310" y="204470"/>
                  </a:lnTo>
                  <a:lnTo>
                    <a:pt x="517829" y="184150"/>
                  </a:lnTo>
                  <a:lnTo>
                    <a:pt x="530580" y="176530"/>
                  </a:lnTo>
                  <a:lnTo>
                    <a:pt x="543318" y="184150"/>
                  </a:lnTo>
                  <a:lnTo>
                    <a:pt x="554850" y="204470"/>
                  </a:lnTo>
                  <a:lnTo>
                    <a:pt x="563194" y="237490"/>
                  </a:lnTo>
                  <a:lnTo>
                    <a:pt x="566407" y="279400"/>
                  </a:lnTo>
                  <a:lnTo>
                    <a:pt x="566407" y="199263"/>
                  </a:lnTo>
                  <a:lnTo>
                    <a:pt x="553491" y="176530"/>
                  </a:lnTo>
                  <a:lnTo>
                    <a:pt x="552056" y="173990"/>
                  </a:lnTo>
                  <a:lnTo>
                    <a:pt x="531228" y="162560"/>
                  </a:lnTo>
                  <a:lnTo>
                    <a:pt x="518947" y="161290"/>
                  </a:lnTo>
                  <a:lnTo>
                    <a:pt x="490461" y="158750"/>
                  </a:lnTo>
                  <a:lnTo>
                    <a:pt x="456514" y="153670"/>
                  </a:lnTo>
                  <a:lnTo>
                    <a:pt x="427837" y="149860"/>
                  </a:lnTo>
                  <a:lnTo>
                    <a:pt x="443420" y="93980"/>
                  </a:lnTo>
                  <a:lnTo>
                    <a:pt x="449364" y="81280"/>
                  </a:lnTo>
                  <a:lnTo>
                    <a:pt x="463638" y="50800"/>
                  </a:lnTo>
                  <a:lnTo>
                    <a:pt x="487438" y="22860"/>
                  </a:lnTo>
                  <a:lnTo>
                    <a:pt x="513740" y="12700"/>
                  </a:lnTo>
                  <a:lnTo>
                    <a:pt x="539661" y="22860"/>
                  </a:lnTo>
                  <a:lnTo>
                    <a:pt x="583260" y="91440"/>
                  </a:lnTo>
                  <a:lnTo>
                    <a:pt x="598868" y="146050"/>
                  </a:lnTo>
                  <a:lnTo>
                    <a:pt x="608990" y="209550"/>
                  </a:lnTo>
                  <a:lnTo>
                    <a:pt x="612584" y="279400"/>
                  </a:lnTo>
                  <a:lnTo>
                    <a:pt x="612584" y="147015"/>
                  </a:lnTo>
                  <a:lnTo>
                    <a:pt x="601484" y="102870"/>
                  </a:lnTo>
                  <a:lnTo>
                    <a:pt x="584225" y="59690"/>
                  </a:lnTo>
                  <a:lnTo>
                    <a:pt x="546709" y="12700"/>
                  </a:lnTo>
                  <a:lnTo>
                    <a:pt x="513740" y="0"/>
                  </a:lnTo>
                  <a:lnTo>
                    <a:pt x="500392" y="1270"/>
                  </a:lnTo>
                  <a:lnTo>
                    <a:pt x="487565" y="6350"/>
                  </a:lnTo>
                  <a:lnTo>
                    <a:pt x="475310" y="15240"/>
                  </a:lnTo>
                  <a:lnTo>
                    <a:pt x="463715" y="27940"/>
                  </a:lnTo>
                  <a:lnTo>
                    <a:pt x="463270" y="27940"/>
                  </a:lnTo>
                  <a:lnTo>
                    <a:pt x="419493" y="76200"/>
                  </a:lnTo>
                  <a:lnTo>
                    <a:pt x="371932" y="115570"/>
                  </a:lnTo>
                  <a:lnTo>
                    <a:pt x="322491" y="143510"/>
                  </a:lnTo>
                  <a:lnTo>
                    <a:pt x="273088" y="165100"/>
                  </a:lnTo>
                  <a:lnTo>
                    <a:pt x="225628" y="179070"/>
                  </a:lnTo>
                  <a:lnTo>
                    <a:pt x="182029" y="186690"/>
                  </a:lnTo>
                  <a:lnTo>
                    <a:pt x="114096" y="191770"/>
                  </a:lnTo>
                  <a:lnTo>
                    <a:pt x="104978" y="191770"/>
                  </a:lnTo>
                  <a:lnTo>
                    <a:pt x="104978" y="205740"/>
                  </a:lnTo>
                  <a:lnTo>
                    <a:pt x="98818" y="228600"/>
                  </a:lnTo>
                  <a:lnTo>
                    <a:pt x="93967" y="262890"/>
                  </a:lnTo>
                  <a:lnTo>
                    <a:pt x="93980" y="264160"/>
                  </a:lnTo>
                  <a:lnTo>
                    <a:pt x="94576" y="304800"/>
                  </a:lnTo>
                  <a:lnTo>
                    <a:pt x="104813" y="351790"/>
                  </a:lnTo>
                  <a:lnTo>
                    <a:pt x="82880" y="351790"/>
                  </a:lnTo>
                  <a:lnTo>
                    <a:pt x="82308" y="349250"/>
                  </a:lnTo>
                  <a:lnTo>
                    <a:pt x="71945" y="303530"/>
                  </a:lnTo>
                  <a:lnTo>
                    <a:pt x="71818" y="260350"/>
                  </a:lnTo>
                  <a:lnTo>
                    <a:pt x="77254" y="226060"/>
                  </a:lnTo>
                  <a:lnTo>
                    <a:pt x="82321" y="207010"/>
                  </a:lnTo>
                  <a:lnTo>
                    <a:pt x="82994" y="204470"/>
                  </a:lnTo>
                  <a:lnTo>
                    <a:pt x="86448" y="204470"/>
                  </a:lnTo>
                  <a:lnTo>
                    <a:pt x="93573" y="205740"/>
                  </a:lnTo>
                  <a:lnTo>
                    <a:pt x="104978" y="205740"/>
                  </a:lnTo>
                  <a:lnTo>
                    <a:pt x="104978" y="191770"/>
                  </a:lnTo>
                  <a:lnTo>
                    <a:pt x="77889" y="191770"/>
                  </a:lnTo>
                  <a:lnTo>
                    <a:pt x="68935" y="193319"/>
                  </a:lnTo>
                  <a:lnTo>
                    <a:pt x="68935" y="207010"/>
                  </a:lnTo>
                  <a:lnTo>
                    <a:pt x="63017" y="229870"/>
                  </a:lnTo>
                  <a:lnTo>
                    <a:pt x="58483" y="264160"/>
                  </a:lnTo>
                  <a:lnTo>
                    <a:pt x="59093" y="304800"/>
                  </a:lnTo>
                  <a:lnTo>
                    <a:pt x="68605" y="349250"/>
                  </a:lnTo>
                  <a:lnTo>
                    <a:pt x="46545" y="340360"/>
                  </a:lnTo>
                  <a:lnTo>
                    <a:pt x="28994" y="323850"/>
                  </a:lnTo>
                  <a:lnTo>
                    <a:pt x="17399" y="302260"/>
                  </a:lnTo>
                  <a:lnTo>
                    <a:pt x="13208" y="278130"/>
                  </a:lnTo>
                  <a:lnTo>
                    <a:pt x="14592" y="264160"/>
                  </a:lnTo>
                  <a:lnTo>
                    <a:pt x="34315" y="226060"/>
                  </a:lnTo>
                  <a:lnTo>
                    <a:pt x="68935" y="207010"/>
                  </a:lnTo>
                  <a:lnTo>
                    <a:pt x="68935" y="193319"/>
                  </a:lnTo>
                  <a:lnTo>
                    <a:pt x="24879" y="217170"/>
                  </a:lnTo>
                  <a:lnTo>
                    <a:pt x="1625" y="261620"/>
                  </a:lnTo>
                  <a:lnTo>
                    <a:pt x="1498" y="262890"/>
                  </a:lnTo>
                  <a:lnTo>
                    <a:pt x="1371" y="264160"/>
                  </a:lnTo>
                  <a:lnTo>
                    <a:pt x="6019" y="309880"/>
                  </a:lnTo>
                  <a:lnTo>
                    <a:pt x="47256" y="355600"/>
                  </a:lnTo>
                  <a:lnTo>
                    <a:pt x="77800" y="364490"/>
                  </a:lnTo>
                  <a:lnTo>
                    <a:pt x="92925" y="364490"/>
                  </a:lnTo>
                  <a:lnTo>
                    <a:pt x="101854" y="365760"/>
                  </a:lnTo>
                  <a:lnTo>
                    <a:pt x="117983" y="365760"/>
                  </a:lnTo>
                  <a:lnTo>
                    <a:pt x="126504" y="367030"/>
                  </a:lnTo>
                  <a:lnTo>
                    <a:pt x="126504" y="506730"/>
                  </a:lnTo>
                  <a:lnTo>
                    <a:pt x="127508" y="518160"/>
                  </a:lnTo>
                  <a:lnTo>
                    <a:pt x="149809" y="551180"/>
                  </a:lnTo>
                  <a:lnTo>
                    <a:pt x="178879" y="560070"/>
                  </a:lnTo>
                  <a:lnTo>
                    <a:pt x="199250" y="554990"/>
                  </a:lnTo>
                  <a:lnTo>
                    <a:pt x="211734" y="547370"/>
                  </a:lnTo>
                  <a:lnTo>
                    <a:pt x="215900" y="544830"/>
                  </a:lnTo>
                  <a:lnTo>
                    <a:pt x="227139" y="527050"/>
                  </a:lnTo>
                  <a:lnTo>
                    <a:pt x="231254" y="506730"/>
                  </a:lnTo>
                  <a:lnTo>
                    <a:pt x="231254" y="431800"/>
                  </a:lnTo>
                  <a:lnTo>
                    <a:pt x="242430" y="426720"/>
                  </a:lnTo>
                  <a:lnTo>
                    <a:pt x="251980" y="419100"/>
                  </a:lnTo>
                  <a:lnTo>
                    <a:pt x="253644" y="416560"/>
                  </a:lnTo>
                  <a:lnTo>
                    <a:pt x="259473" y="407670"/>
                  </a:lnTo>
                  <a:lnTo>
                    <a:pt x="311150" y="414020"/>
                  </a:lnTo>
                  <a:lnTo>
                    <a:pt x="353910" y="435610"/>
                  </a:lnTo>
                  <a:lnTo>
                    <a:pt x="392671" y="461010"/>
                  </a:lnTo>
                  <a:lnTo>
                    <a:pt x="427342" y="490220"/>
                  </a:lnTo>
                  <a:lnTo>
                    <a:pt x="457822" y="523240"/>
                  </a:lnTo>
                  <a:lnTo>
                    <a:pt x="461111" y="528320"/>
                  </a:lnTo>
                  <a:lnTo>
                    <a:pt x="463537" y="530860"/>
                  </a:lnTo>
                  <a:lnTo>
                    <a:pt x="466013" y="534670"/>
                  </a:lnTo>
                  <a:lnTo>
                    <a:pt x="466458" y="534670"/>
                  </a:lnTo>
                  <a:lnTo>
                    <a:pt x="477520" y="544830"/>
                  </a:lnTo>
                  <a:lnTo>
                    <a:pt x="489102" y="553720"/>
                  </a:lnTo>
                  <a:lnTo>
                    <a:pt x="501205" y="558800"/>
                  </a:lnTo>
                  <a:lnTo>
                    <a:pt x="513740" y="560070"/>
                  </a:lnTo>
                  <a:lnTo>
                    <a:pt x="539737" y="552450"/>
                  </a:lnTo>
                  <a:lnTo>
                    <a:pt x="547141" y="546100"/>
                  </a:lnTo>
                  <a:lnTo>
                    <a:pt x="563435" y="532130"/>
                  </a:lnTo>
                  <a:lnTo>
                    <a:pt x="584225" y="499110"/>
                  </a:lnTo>
                  <a:lnTo>
                    <a:pt x="601484" y="455930"/>
                  </a:lnTo>
                  <a:lnTo>
                    <a:pt x="614578" y="403860"/>
                  </a:lnTo>
                  <a:lnTo>
                    <a:pt x="622896" y="344170"/>
                  </a:lnTo>
                  <a:lnTo>
                    <a:pt x="622947" y="342900"/>
                  </a:lnTo>
                  <a:lnTo>
                    <a:pt x="623062" y="340360"/>
                  </a:lnTo>
                  <a:lnTo>
                    <a:pt x="625805" y="279400"/>
                  </a:lnTo>
                  <a:close/>
                </a:path>
                <a:path w="848359" h="560070">
                  <a:moveTo>
                    <a:pt x="847813" y="275399"/>
                  </a:moveTo>
                  <a:lnTo>
                    <a:pt x="844854" y="272440"/>
                  </a:lnTo>
                  <a:lnTo>
                    <a:pt x="693775" y="272440"/>
                  </a:lnTo>
                  <a:lnTo>
                    <a:pt x="690816" y="275399"/>
                  </a:lnTo>
                  <a:lnTo>
                    <a:pt x="690816" y="282702"/>
                  </a:lnTo>
                  <a:lnTo>
                    <a:pt x="693775" y="285648"/>
                  </a:lnTo>
                  <a:lnTo>
                    <a:pt x="841197" y="285648"/>
                  </a:lnTo>
                  <a:lnTo>
                    <a:pt x="844854" y="285648"/>
                  </a:lnTo>
                  <a:lnTo>
                    <a:pt x="847813" y="282702"/>
                  </a:lnTo>
                  <a:lnTo>
                    <a:pt x="847813" y="275399"/>
                  </a:lnTo>
                  <a:close/>
                </a:path>
              </a:pathLst>
            </a:custGeom>
            <a:solidFill>
              <a:srgbClr val="FFFFFF"/>
            </a:solidFill>
          </p:spPr>
          <p:txBody>
            <a:bodyPr wrap="square" lIns="0" tIns="0" rIns="0" bIns="0" rtlCol="0"/>
            <a:lstStyle/>
            <a:p>
              <a:endParaRPr dirty="0"/>
            </a:p>
          </p:txBody>
        </p:sp>
        <p:pic>
          <p:nvPicPr>
            <p:cNvPr id="22" name="object 22"/>
            <p:cNvPicPr/>
            <p:nvPr/>
          </p:nvPicPr>
          <p:blipFill>
            <a:blip r:embed="rId3" cstate="print"/>
            <a:stretch>
              <a:fillRect/>
            </a:stretch>
          </p:blipFill>
          <p:spPr>
            <a:xfrm>
              <a:off x="13586571" y="5905052"/>
              <a:ext cx="148297" cy="67970"/>
            </a:xfrm>
            <a:prstGeom prst="rect">
              <a:avLst/>
            </a:prstGeom>
          </p:spPr>
        </p:pic>
        <p:pic>
          <p:nvPicPr>
            <p:cNvPr id="23" name="object 23"/>
            <p:cNvPicPr/>
            <p:nvPr/>
          </p:nvPicPr>
          <p:blipFill>
            <a:blip r:embed="rId4" cstate="print"/>
            <a:stretch>
              <a:fillRect/>
            </a:stretch>
          </p:blipFill>
          <p:spPr>
            <a:xfrm>
              <a:off x="13587477" y="6206701"/>
              <a:ext cx="148297" cy="67960"/>
            </a:xfrm>
            <a:prstGeom prst="rect">
              <a:avLst/>
            </a:prstGeom>
          </p:spPr>
        </p:pic>
      </p:grpSp>
      <p:sp>
        <p:nvSpPr>
          <p:cNvPr id="28" name="Rectangle 2">
            <a:extLst>
              <a:ext uri="{FF2B5EF4-FFF2-40B4-BE49-F238E27FC236}">
                <a16:creationId xmlns:a16="http://schemas.microsoft.com/office/drawing/2014/main" id="{03463882-C424-46FD-EE77-2D2167C4321C}"/>
              </a:ext>
            </a:extLst>
          </p:cNvPr>
          <p:cNvSpPr>
            <a:spLocks noChangeArrowheads="1"/>
          </p:cNvSpPr>
          <p:nvPr/>
        </p:nvSpPr>
        <p:spPr bwMode="auto">
          <a:xfrm>
            <a:off x="1600200" y="2081399"/>
            <a:ext cx="13868399"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sng" strike="noStrike" cap="none" normalizeH="0" baseline="0" dirty="0">
                <a:ln>
                  <a:noFill/>
                </a:ln>
                <a:solidFill>
                  <a:schemeClr val="tx1"/>
                </a:solidFill>
                <a:effectLst/>
                <a:latin typeface="Arial" panose="020B0604020202020204" pitchFamily="34" charset="0"/>
              </a:rPr>
              <a:t>https://www.researchgate.net/publication/386304850_Artificial_intelligence_for_deepfake_detection_systematic_review_and_impact_analysis/link/674cb404790d154bf9bb78eb/download?_tp=eyJjb250ZXh0Ijp7ImZpcnN0UGFnZSI6InB1YmxpY2F0aW9uIiwicGFnZSI6InB1YmxpY2F0aW9uIn19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5"/>
              </a:rPr>
              <a:t> https://www.kaggle.com/c/deepfake-detection-challenge/data</a:t>
            </a:r>
            <a:endParaRPr kumimoji="0" lang="en-US" altLang="en-US" sz="2800" b="0" i="0"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6"/>
              </a:rPr>
              <a:t> https://www.ijnrd.org/papers/IJNRD2310407.pdf</a:t>
            </a:r>
            <a:endParaRPr kumimoji="0" lang="en-US" altLang="en-US" sz="2800" b="0" i="0"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buFontTx/>
              <a:buChar char="•"/>
            </a:pPr>
            <a:r>
              <a:rPr kumimoji="0" lang="en-US" altLang="en-US" sz="2800" b="0" i="0" u="sng" strike="noStrike" cap="none" normalizeH="0" baseline="0" dirty="0">
                <a:ln>
                  <a:noFill/>
                </a:ln>
                <a:solidFill>
                  <a:schemeClr val="tx1"/>
                </a:solidFill>
                <a:effectLst/>
                <a:latin typeface="Arial" panose="020B0604020202020204" pitchFamily="34" charset="0"/>
              </a:rPr>
              <a:t>https://www.researchgate.net/publication/390141504_Deepfake_and_Biometric_Spoofing_AIDriven_Identity_Fraud_and_Countermeasures/link/67e2104972f7f37c3e8ae823/download?_tp=eyJjb250ZXh0Ijp7ImZpcnN0UGFnZSI6InB1YmxpY2F0aW9uIiwicGFnZSI6InB1YmxpY2F0aW9uIn19</a:t>
            </a:r>
            <a:endParaRPr lang="en-US" altLang="en-US" sz="2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7"/>
              </a:rPr>
              <a:t>https://ceur-ws.org/Vol-3900/Paper9.pdf</a:t>
            </a:r>
            <a:endParaRPr lang="en-US" altLang="en-US" sz="2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sng" strike="noStrike" cap="none" normalizeH="0" baseline="0" dirty="0">
                <a:ln>
                  <a:noFill/>
                </a:ln>
                <a:solidFill>
                  <a:schemeClr val="tx1"/>
                </a:solidFill>
                <a:effectLst/>
                <a:latin typeface="Arial" panose="020B0604020202020204" pitchFamily="34" charset="0"/>
              </a:rPr>
              <a:t>https://scholar.google.co.in/scholar?q=ai+powered+deepfake+detection+liveness+detection+research+paper&amp;hl=en&amp;as_sdt=0&amp;as_vis=1&amp;oi=scholart#d=gs_qabs&amp;t=1747980296465&amp;u=%23p%3DKlVoxZwaWaoJ</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803</TotalTime>
  <Words>1284</Words>
  <Application>Microsoft Office PowerPoint</Application>
  <PresentationFormat>Custom</PresentationFormat>
  <Paragraphs>209</Paragraphs>
  <Slides>20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PowerPoint Presentation</vt:lpstr>
      <vt:lpstr>ABSTRACT</vt:lpstr>
      <vt:lpstr>OBJECTIVES</vt:lpstr>
      <vt:lpstr>PROBLEM STATEMENT</vt:lpstr>
      <vt:lpstr>SCOPE OF PROJECT</vt:lpstr>
      <vt:lpstr>PowerPoint Presentation</vt:lpstr>
      <vt:lpstr>PowerPoint Presentation</vt:lpstr>
      <vt:lpstr>DESCRIPTION OF MODULES</vt:lpstr>
      <vt:lpstr>DATASET DISTRIBUTION:</vt:lpstr>
      <vt:lpstr>IMPLEMENTATION</vt:lpstr>
      <vt:lpstr>TESTING</vt:lpstr>
      <vt:lpstr>PowerPoint Presentation</vt:lpstr>
      <vt:lpstr>PowerPoint Presentation</vt:lpstr>
      <vt:lpstr>RESULT (SNAP SHOTS)</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Neon Pink Bright Blue White Modular Abstract Business Case Study and Report Business Presentation</dc:title>
  <dc:creator>Pushpitha JR</dc:creator>
  <cp:keywords>DAGoC75KjPk,BAGIl1vqpbw,0</cp:keywords>
  <cp:lastModifiedBy>Arun Kumar</cp:lastModifiedBy>
  <cp:revision>30</cp:revision>
  <dcterms:created xsi:type="dcterms:W3CDTF">2025-05-21T03:46:31Z</dcterms:created>
  <dcterms:modified xsi:type="dcterms:W3CDTF">2025-12-02T04:16:24Z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2025-05-21T00:00:00Z</vt:filetime>
  </property>
  <property fmtid="{D5CDD505-2E9C-101B-9397-08002B2CF9AE}" pid="3" name="Creator">
    <vt:lpwstr>Canva</vt:lpwstr>
  </property>
  <property fmtid="{D5CDD505-2E9C-101B-9397-08002B2CF9AE}" pid="4" name="LastSaved">
    <vt:filetime>2025-05-21T00:00:00Z</vt:filetime>
  </property>
  <property fmtid="{D5CDD505-2E9C-101B-9397-08002B2CF9AE}" pid="5" name="Producer">
    <vt:lpwstr>Canva</vt:lpwstr>
  </property>
</Properties>
</file>